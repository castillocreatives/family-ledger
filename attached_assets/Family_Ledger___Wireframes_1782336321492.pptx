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Lo-fi wireframes for Family Ledger — a two-parent weekly allowance app. Warm-dark palette, ledger-style numbers. Each following slide is one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 / This Week. Two layouts: a scrollable card-per-kid stack, and a single-kid focus you swipe between. Both lead with the big tabular weekly total — green or red, nothing else colored.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Daily tracker. Check off the regular chores fast; the day's net is always in view. Two interaction models: a flat checklist, or tap-to-cycle grouped by time of day. Removing points always asks why; a bonus note is optional.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out week — the signature moment. Each kid's ledger tape totals up to a final number. Maya ends positive: pay out $46, reset to base. Theo ends negative: $6 rolls over so next week opens at $34, not $40. The rule made visible.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History reads as a ledger: each past week shows paid vs. carried over per kid. Settings holds the setup that powers everything — kids and their base allowance, the regular chore list (type or paste), and parent sharing by email or link, with every entry marked by who logged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Money &amp; payout closes the loop. The kid's wallet splits into saved vs. spend, with a savings goal. They pick a save/spend split when paid. The parent payout routes a positive week into goal and spending per that plan — here $46 at 70/30 reaches the skateboard goal.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28750" y="3179630"/>
            <a:ext cx="16973551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450" kern="0" dirty="0">
                <a:solidFill>
                  <a:srgbClr val="D8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FAMILY LEDGER · LO-FI WIREFRAMES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428750" y="3757414"/>
            <a:ext cx="15893416" cy="17023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300" b="1" spc="-75" kern="0" dirty="0">
                <a:solidFill>
                  <a:srgbClr val="ECE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paper allowance book, rebuilt for two parents.</a:t>
            </a:r>
            <a:endParaRPr lang="en-US" sz="6300" dirty="0"/>
          </a:p>
        </p:txBody>
      </p:sp>
      <p:sp>
        <p:nvSpPr>
          <p:cNvPr id="4" name="Text 2"/>
          <p:cNvSpPr/>
          <p:nvPr/>
        </p:nvSpPr>
        <p:spPr>
          <a:xfrm>
            <a:off x="1428750" y="5707393"/>
            <a:ext cx="10791825" cy="7809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8A8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first, in the real palette: deep ink, paper-cream, one coin-gold accent. Dashed outlines mark placeholders. Balances are the only thing allowed to be green or red.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428750" y="6869245"/>
            <a:ext cx="226994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7FAA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</a:t>
            </a:r>
            <a:pPr algn="l" indent="0" marL="0">
              <a:buNone/>
            </a:pPr>
            <a:r>
              <a:rPr lang="en-US" sz="1425" dirty="0">
                <a:solidFill>
                  <a:srgbClr val="6F6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positive / payout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3873335" y="6869245"/>
            <a:ext cx="250877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CF7B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</a:t>
            </a:r>
            <a:pPr algn="l" indent="0" marL="0">
              <a:buNone/>
            </a:pPr>
            <a:r>
              <a:rPr lang="en-US" sz="1425" dirty="0">
                <a:solidFill>
                  <a:srgbClr val="6F6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negative / rollover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6535044" y="6869245"/>
            <a:ext cx="191159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D8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</a:t>
            </a:r>
            <a:pPr algn="l" indent="0" marL="0">
              <a:buNone/>
            </a:pPr>
            <a:r>
              <a:rPr lang="en-US" sz="1425" dirty="0">
                <a:solidFill>
                  <a:srgbClr val="6F6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 action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8653860" y="6869245"/>
            <a:ext cx="286667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6F6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— dashed = placeholder</a:t>
            </a:r>
            <a:endParaRPr lang="en-US" sz="14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51867"/>
            <a:ext cx="327637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D8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203937" y="514284"/>
            <a:ext cx="3454756" cy="472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CE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· This Week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35124" y="678326"/>
            <a:ext cx="7411558" cy="281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A8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layouts for the same job: read each kid's running total fast, then act.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810000" y="1426683"/>
            <a:ext cx="190950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dirty="0">
                <a:solidFill>
                  <a:srgbClr val="D8A6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· Card stack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3810000" y="1845717"/>
            <a:ext cx="3714750" cy="7734267"/>
          </a:xfrm>
          <a:prstGeom prst="roundRect">
            <a:avLst>
              <a:gd name="adj" fmla="val 7692"/>
            </a:avLst>
          </a:prstGeom>
          <a:solidFill>
            <a:srgbClr val="1C1813"/>
          </a:solidFill>
          <a:ln w="10583">
            <a:solidFill>
              <a:srgbClr val="ECE4D6">
                <a:alpha val="28000"/>
              </a:srgbClr>
            </a:solidFill>
            <a:prstDash val="dash"/>
          </a:ln>
          <a:effectLst>
            <a:outerShdw sx="100000" sy="100000" kx="0" ky="0" algn="bl" rotWithShape="0" blurRad="419100" dist="133350" dir="5400000">
              <a:srgbClr val="000000">
                <a:alpha val="5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049117" y="1949400"/>
            <a:ext cx="327554" cy="1756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F6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9:41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6907941" y="1949400"/>
            <a:ext cx="453893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F6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▮▮▮ 5G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4011084" y="2389601"/>
            <a:ext cx="1171162" cy="15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50" kern="0" dirty="0">
                <a:solidFill>
                  <a:srgbClr val="6F6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 WEEK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011084" y="2530326"/>
            <a:ext cx="1171162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CE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 16 – 22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6837826" y="2389601"/>
            <a:ext cx="285750" cy="285750"/>
          </a:xfrm>
          <a:prstGeom prst="ellipse">
            <a:avLst/>
          </a:prstGeom>
          <a:ln w="10583">
            <a:solidFill>
              <a:srgbClr val="ECE4D6">
                <a:alpha val="50000"/>
              </a:srgbClr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6810309" y="2400184"/>
            <a:ext cx="340783" cy="302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ECE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037917" y="2389601"/>
            <a:ext cx="285750" cy="285750"/>
          </a:xfrm>
          <a:prstGeom prst="ellipse">
            <a:avLst/>
          </a:prstGeom>
          <a:solidFill>
            <a:srgbClr val="1C1813"/>
          </a:solidFill>
          <a:ln w="10583">
            <a:solidFill>
              <a:srgbClr val="D8A657">
                <a:alpha val="70000"/>
              </a:srgbClr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010400" y="2400184"/>
            <a:ext cx="340783" cy="302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D8A6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011084" y="2920835"/>
            <a:ext cx="3312584" cy="1757826"/>
          </a:xfrm>
          <a:prstGeom prst="roundRect">
            <a:avLst>
              <a:gd name="adj" fmla="val 8670"/>
            </a:avLst>
          </a:prstGeom>
          <a:solidFill>
            <a:srgbClr val="ECE4D6">
              <a:alpha val="2000"/>
            </a:srgbClr>
          </a:solidFill>
          <a:ln w="5292">
            <a:solidFill>
              <a:srgbClr val="ECE4D6">
                <a:alpha val="22000"/>
              </a:srgbClr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4168759" y="3078510"/>
            <a:ext cx="472083" cy="223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ECE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Maya</a:t>
            </a:r>
            <a:endParaRPr lang="en-US" sz="1275" dirty="0"/>
          </a:p>
        </p:txBody>
      </p:sp>
      <p:sp>
        <p:nvSpPr>
          <p:cNvPr id="17" name="Text 15"/>
          <p:cNvSpPr/>
          <p:nvPr/>
        </p:nvSpPr>
        <p:spPr>
          <a:xfrm>
            <a:off x="6726122" y="3102323"/>
            <a:ext cx="516070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F6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 ›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4168759" y="3397002"/>
            <a:ext cx="796445" cy="398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150" b="1" dirty="0">
                <a:solidFill>
                  <a:srgbClr val="7FAA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$46</a:t>
            </a:r>
            <a:endParaRPr lang="en-US" sz="3150" dirty="0"/>
          </a:p>
        </p:txBody>
      </p:sp>
      <p:sp>
        <p:nvSpPr>
          <p:cNvPr id="19" name="Text 17"/>
          <p:cNvSpPr/>
          <p:nvPr/>
        </p:nvSpPr>
        <p:spPr>
          <a:xfrm>
            <a:off x="5022288" y="3424783"/>
            <a:ext cx="893101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F6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$40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5022288" y="3581384"/>
            <a:ext cx="893101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7FAA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+$6 this week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4168759" y="3890285"/>
            <a:ext cx="3296957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8A81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chores 3/5 · +$8 / −$2</a:t>
            </a:r>
            <a:endParaRPr lang="en-US" sz="825" dirty="0"/>
          </a:p>
        </p:txBody>
      </p:sp>
      <p:sp>
        <p:nvSpPr>
          <p:cNvPr id="22" name="Shape 20"/>
          <p:cNvSpPr/>
          <p:nvPr/>
        </p:nvSpPr>
        <p:spPr>
          <a:xfrm>
            <a:off x="4168759" y="4161152"/>
            <a:ext cx="1455208" cy="359833"/>
          </a:xfrm>
          <a:prstGeom prst="roundRect">
            <a:avLst>
              <a:gd name="adj" fmla="val 26471"/>
            </a:avLst>
          </a:prstGeom>
          <a:solidFill>
            <a:srgbClr val="D8A657"/>
          </a:solidFill>
          <a:ln/>
        </p:spPr>
      </p:sp>
      <p:sp>
        <p:nvSpPr>
          <p:cNvPr id="23" name="Text 21"/>
          <p:cNvSpPr/>
          <p:nvPr/>
        </p:nvSpPr>
        <p:spPr>
          <a:xfrm>
            <a:off x="4225909" y="4256402"/>
            <a:ext cx="1340908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1A16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Bonus</a:t>
            </a:r>
            <a:endParaRPr lang="en-US" sz="975" dirty="0"/>
          </a:p>
        </p:txBody>
      </p:sp>
      <p:sp>
        <p:nvSpPr>
          <p:cNvPr id="24" name="Shape 22"/>
          <p:cNvSpPr/>
          <p:nvPr/>
        </p:nvSpPr>
        <p:spPr>
          <a:xfrm>
            <a:off x="5700117" y="4161152"/>
            <a:ext cx="1465874" cy="359833"/>
          </a:xfrm>
          <a:prstGeom prst="roundRect">
            <a:avLst>
              <a:gd name="adj" fmla="val 26471"/>
            </a:avLst>
          </a:prstGeom>
          <a:ln w="5292">
            <a:solidFill>
              <a:srgbClr val="ECE4D6">
                <a:alpha val="40000"/>
              </a:srgbClr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762559" y="4261693"/>
            <a:ext cx="1340991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ECE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Points</a:t>
            </a:r>
            <a:endParaRPr lang="en-US" sz="975" dirty="0"/>
          </a:p>
        </p:txBody>
      </p:sp>
      <p:sp>
        <p:nvSpPr>
          <p:cNvPr id="26" name="Shape 24"/>
          <p:cNvSpPr/>
          <p:nvPr/>
        </p:nvSpPr>
        <p:spPr>
          <a:xfrm>
            <a:off x="4011084" y="4831044"/>
            <a:ext cx="3312584" cy="1757826"/>
          </a:xfrm>
          <a:prstGeom prst="roundRect">
            <a:avLst>
              <a:gd name="adj" fmla="val 8670"/>
            </a:avLst>
          </a:prstGeom>
          <a:solidFill>
            <a:srgbClr val="ECE4D6">
              <a:alpha val="2000"/>
            </a:srgbClr>
          </a:solidFill>
          <a:ln w="5292">
            <a:solidFill>
              <a:srgbClr val="ECE4D6">
                <a:alpha val="22000"/>
              </a:srgbClr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4168759" y="4988719"/>
            <a:ext cx="445211" cy="223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ECE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</a:t>
            </a:r>
            <a:endParaRPr lang="en-US" sz="1275" dirty="0"/>
          </a:p>
        </p:txBody>
      </p:sp>
      <p:sp>
        <p:nvSpPr>
          <p:cNvPr id="28" name="Text 26"/>
          <p:cNvSpPr/>
          <p:nvPr/>
        </p:nvSpPr>
        <p:spPr>
          <a:xfrm>
            <a:off x="6726122" y="5012531"/>
            <a:ext cx="516070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F6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 ›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4168759" y="5307211"/>
            <a:ext cx="796445" cy="398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150" b="1" dirty="0">
                <a:solidFill>
                  <a:srgbClr val="CF7B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−$6</a:t>
            </a:r>
            <a:endParaRPr lang="en-US" sz="3150" dirty="0"/>
          </a:p>
        </p:txBody>
      </p:sp>
      <p:sp>
        <p:nvSpPr>
          <p:cNvPr id="30" name="Text 28"/>
          <p:cNvSpPr/>
          <p:nvPr/>
        </p:nvSpPr>
        <p:spPr>
          <a:xfrm>
            <a:off x="5022288" y="5334992"/>
            <a:ext cx="1144373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F6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$40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5022288" y="5491593"/>
            <a:ext cx="1144373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CF7B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rolls over if &lt; 0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4168759" y="5800494"/>
            <a:ext cx="3296957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8A81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chores 1/5 · missed −$28</a:t>
            </a:r>
            <a:endParaRPr lang="en-US" sz="825" dirty="0"/>
          </a:p>
        </p:txBody>
      </p:sp>
      <p:sp>
        <p:nvSpPr>
          <p:cNvPr id="33" name="Shape 31"/>
          <p:cNvSpPr/>
          <p:nvPr/>
        </p:nvSpPr>
        <p:spPr>
          <a:xfrm>
            <a:off x="4168759" y="6071361"/>
            <a:ext cx="1455208" cy="359833"/>
          </a:xfrm>
          <a:prstGeom prst="roundRect">
            <a:avLst>
              <a:gd name="adj" fmla="val 26471"/>
            </a:avLst>
          </a:prstGeom>
          <a:solidFill>
            <a:srgbClr val="D8A657"/>
          </a:solidFill>
          <a:ln/>
        </p:spPr>
      </p:sp>
      <p:sp>
        <p:nvSpPr>
          <p:cNvPr id="34" name="Text 32"/>
          <p:cNvSpPr/>
          <p:nvPr/>
        </p:nvSpPr>
        <p:spPr>
          <a:xfrm>
            <a:off x="4225909" y="6166611"/>
            <a:ext cx="1340908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1A16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Bonus</a:t>
            </a:r>
            <a:endParaRPr lang="en-US" sz="975" dirty="0"/>
          </a:p>
        </p:txBody>
      </p:sp>
      <p:sp>
        <p:nvSpPr>
          <p:cNvPr id="35" name="Shape 33"/>
          <p:cNvSpPr/>
          <p:nvPr/>
        </p:nvSpPr>
        <p:spPr>
          <a:xfrm>
            <a:off x="5700117" y="6071361"/>
            <a:ext cx="1465874" cy="359833"/>
          </a:xfrm>
          <a:prstGeom prst="roundRect">
            <a:avLst>
              <a:gd name="adj" fmla="val 26471"/>
            </a:avLst>
          </a:prstGeom>
          <a:ln w="5292">
            <a:solidFill>
              <a:srgbClr val="ECE4D6">
                <a:alpha val="40000"/>
              </a:srgbClr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5762559" y="6171902"/>
            <a:ext cx="1340991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ECE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Points</a:t>
            </a:r>
            <a:endParaRPr lang="en-US" sz="975" dirty="0"/>
          </a:p>
        </p:txBody>
      </p:sp>
      <p:sp>
        <p:nvSpPr>
          <p:cNvPr id="37" name="Shape 35"/>
          <p:cNvSpPr/>
          <p:nvPr/>
        </p:nvSpPr>
        <p:spPr>
          <a:xfrm>
            <a:off x="4011084" y="8347191"/>
            <a:ext cx="3312584" cy="422176"/>
          </a:xfrm>
          <a:prstGeom prst="roundRect">
            <a:avLst>
              <a:gd name="adj" fmla="val 27074"/>
            </a:avLst>
          </a:prstGeom>
          <a:ln w="10583">
            <a:solidFill>
              <a:srgbClr val="D8A657">
                <a:alpha val="55000"/>
              </a:srgbClr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4095803" y="8481599"/>
            <a:ext cx="3143144" cy="1914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8A6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out week →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820584" y="8978884"/>
            <a:ext cx="3693584" cy="9525"/>
          </a:xfrm>
          <a:prstGeom prst="rect">
            <a:avLst/>
          </a:prstGeom>
          <a:solidFill>
            <a:srgbClr val="ECE4D6">
              <a:alpha val="16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114023" y="9123330"/>
            <a:ext cx="152383" cy="152383"/>
          </a:xfrm>
          <a:prstGeom prst="roundRect">
            <a:avLst>
              <a:gd name="adj" fmla="val 31253"/>
            </a:avLst>
          </a:prstGeom>
          <a:ln w="10583">
            <a:solidFill>
              <a:srgbClr val="D8A65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66894" y="9313747"/>
            <a:ext cx="322841" cy="154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D8A6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en-US" sz="713" dirty="0"/>
          </a:p>
        </p:txBody>
      </p:sp>
      <p:sp>
        <p:nvSpPr>
          <p:cNvPr id="42" name="Shape 40"/>
          <p:cNvSpPr/>
          <p:nvPr/>
        </p:nvSpPr>
        <p:spPr>
          <a:xfrm>
            <a:off x="4836005" y="9123330"/>
            <a:ext cx="152383" cy="152383"/>
          </a:xfrm>
          <a:prstGeom prst="roundRect">
            <a:avLst>
              <a:gd name="adj" fmla="val 31253"/>
            </a:avLst>
          </a:prstGeom>
          <a:ln w="10583">
            <a:solidFill>
              <a:srgbClr val="6F675B"/>
            </a:solidFill>
            <a:prstDash val="dash"/>
          </a:ln>
        </p:spPr>
      </p:sp>
      <p:sp>
        <p:nvSpPr>
          <p:cNvPr id="43" name="Text 41"/>
          <p:cNvSpPr/>
          <p:nvPr/>
        </p:nvSpPr>
        <p:spPr>
          <a:xfrm>
            <a:off x="4806322" y="9313747"/>
            <a:ext cx="288032" cy="154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6F6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</a:t>
            </a:r>
            <a:endParaRPr lang="en-US" sz="713" dirty="0"/>
          </a:p>
        </p:txBody>
      </p:sp>
      <p:sp>
        <p:nvSpPr>
          <p:cNvPr id="44" name="Shape 42"/>
          <p:cNvSpPr/>
          <p:nvPr/>
        </p:nvSpPr>
        <p:spPr>
          <a:xfrm>
            <a:off x="5553439" y="9123330"/>
            <a:ext cx="152383" cy="152383"/>
          </a:xfrm>
          <a:prstGeom prst="roundRect">
            <a:avLst>
              <a:gd name="adj" fmla="val 31253"/>
            </a:avLst>
          </a:prstGeom>
          <a:ln w="10583">
            <a:solidFill>
              <a:srgbClr val="6F675B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5510940" y="9313747"/>
            <a:ext cx="313581" cy="154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6F6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</a:t>
            </a:r>
            <a:endParaRPr lang="en-US" sz="713" dirty="0"/>
          </a:p>
        </p:txBody>
      </p:sp>
      <p:sp>
        <p:nvSpPr>
          <p:cNvPr id="46" name="Shape 44"/>
          <p:cNvSpPr/>
          <p:nvPr/>
        </p:nvSpPr>
        <p:spPr>
          <a:xfrm>
            <a:off x="6321640" y="9123330"/>
            <a:ext cx="152383" cy="152383"/>
          </a:xfrm>
          <a:prstGeom prst="roundRect">
            <a:avLst>
              <a:gd name="adj" fmla="val 31253"/>
            </a:avLst>
          </a:prstGeom>
          <a:ln w="10583">
            <a:solidFill>
              <a:srgbClr val="6F675B"/>
            </a:solidFill>
            <a:prstDash val="dash"/>
          </a:ln>
        </p:spPr>
      </p:sp>
      <p:sp>
        <p:nvSpPr>
          <p:cNvPr id="47" name="Text 45"/>
          <p:cNvSpPr/>
          <p:nvPr/>
        </p:nvSpPr>
        <p:spPr>
          <a:xfrm>
            <a:off x="6241025" y="9313747"/>
            <a:ext cx="389814" cy="154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6F6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</a:t>
            </a:r>
            <a:endParaRPr lang="en-US" sz="713" dirty="0"/>
          </a:p>
        </p:txBody>
      </p:sp>
      <p:sp>
        <p:nvSpPr>
          <p:cNvPr id="48" name="Shape 46"/>
          <p:cNvSpPr/>
          <p:nvPr/>
        </p:nvSpPr>
        <p:spPr>
          <a:xfrm>
            <a:off x="7081325" y="9123330"/>
            <a:ext cx="152383" cy="152383"/>
          </a:xfrm>
          <a:prstGeom prst="roundRect">
            <a:avLst>
              <a:gd name="adj" fmla="val 31253"/>
            </a:avLst>
          </a:prstGeom>
          <a:ln w="10583">
            <a:solidFill>
              <a:srgbClr val="6F675B"/>
            </a:solidFill>
            <a:prstDash val="dash"/>
          </a:ln>
        </p:spPr>
      </p:sp>
      <p:sp>
        <p:nvSpPr>
          <p:cNvPr id="49" name="Text 47"/>
          <p:cNvSpPr/>
          <p:nvPr/>
        </p:nvSpPr>
        <p:spPr>
          <a:xfrm>
            <a:off x="7047426" y="9313747"/>
            <a:ext cx="296466" cy="154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6F6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</a:t>
            </a:r>
            <a:endParaRPr lang="en-US" sz="713" dirty="0"/>
          </a:p>
        </p:txBody>
      </p:sp>
      <p:sp>
        <p:nvSpPr>
          <p:cNvPr id="50" name="Text 48"/>
          <p:cNvSpPr/>
          <p:nvPr/>
        </p:nvSpPr>
        <p:spPr>
          <a:xfrm>
            <a:off x="8191501" y="4539175"/>
            <a:ext cx="1981200" cy="1966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025" dirty="0">
                <a:solidFill>
                  <a:srgbClr val="D8A6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↙ big tabular number does all the talking — green or red, nothing else colored.</a:t>
            </a:r>
            <a:endParaRPr lang="en-US" sz="2025" dirty="0"/>
          </a:p>
        </p:txBody>
      </p:sp>
      <p:sp>
        <p:nvSpPr>
          <p:cNvPr id="51" name="Text 49"/>
          <p:cNvSpPr/>
          <p:nvPr/>
        </p:nvSpPr>
        <p:spPr>
          <a:xfrm>
            <a:off x="10763250" y="1426683"/>
            <a:ext cx="266639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dirty="0">
                <a:solidFill>
                  <a:srgbClr val="D8A6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· Single-kid focus</a:t>
            </a:r>
            <a:endParaRPr lang="en-US" sz="2250" dirty="0"/>
          </a:p>
        </p:txBody>
      </p:sp>
      <p:sp>
        <p:nvSpPr>
          <p:cNvPr id="52" name="Shape 50"/>
          <p:cNvSpPr/>
          <p:nvPr/>
        </p:nvSpPr>
        <p:spPr>
          <a:xfrm>
            <a:off x="10763250" y="1845717"/>
            <a:ext cx="3714750" cy="7734267"/>
          </a:xfrm>
          <a:prstGeom prst="roundRect">
            <a:avLst>
              <a:gd name="adj" fmla="val 7692"/>
            </a:avLst>
          </a:prstGeom>
          <a:solidFill>
            <a:srgbClr val="1C1813"/>
          </a:solidFill>
          <a:ln w="10583">
            <a:solidFill>
              <a:srgbClr val="ECE4D6">
                <a:alpha val="28000"/>
              </a:srgbClr>
            </a:solidFill>
            <a:prstDash val="dash"/>
          </a:ln>
          <a:effectLst>
            <a:outerShdw sx="100000" sy="100000" kx="0" ky="0" algn="bl" rotWithShape="0" blurRad="419100" dist="133350" dir="5400000">
              <a:srgbClr val="000000">
                <a:alpha val="50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11002368" y="1949400"/>
            <a:ext cx="327554" cy="1756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F6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9:41</a:t>
            </a:r>
            <a:endParaRPr lang="en-US" sz="825" dirty="0"/>
          </a:p>
        </p:txBody>
      </p:sp>
      <p:sp>
        <p:nvSpPr>
          <p:cNvPr id="54" name="Text 52"/>
          <p:cNvSpPr/>
          <p:nvPr/>
        </p:nvSpPr>
        <p:spPr>
          <a:xfrm>
            <a:off x="13861191" y="1949400"/>
            <a:ext cx="453893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F6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▮▮▮ 5G</a:t>
            </a:r>
            <a:endParaRPr lang="en-US" sz="825" dirty="0"/>
          </a:p>
        </p:txBody>
      </p:sp>
      <p:sp>
        <p:nvSpPr>
          <p:cNvPr id="55" name="Text 53"/>
          <p:cNvSpPr/>
          <p:nvPr/>
        </p:nvSpPr>
        <p:spPr>
          <a:xfrm>
            <a:off x="10964334" y="2389601"/>
            <a:ext cx="914433" cy="15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50" kern="0" dirty="0">
                <a:solidFill>
                  <a:srgbClr val="6F6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JUN 16 – 22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14067483" y="2412339"/>
            <a:ext cx="76150" cy="76150"/>
          </a:xfrm>
          <a:prstGeom prst="ellipse">
            <a:avLst/>
          </a:prstGeom>
          <a:solidFill>
            <a:srgbClr val="D8A657"/>
          </a:solidFill>
          <a:ln/>
        </p:spPr>
      </p:sp>
      <p:sp>
        <p:nvSpPr>
          <p:cNvPr id="57" name="Shape 55"/>
          <p:cNvSpPr/>
          <p:nvPr/>
        </p:nvSpPr>
        <p:spPr>
          <a:xfrm>
            <a:off x="14200767" y="2412339"/>
            <a:ext cx="76150" cy="76150"/>
          </a:xfrm>
          <a:prstGeom prst="ellipse">
            <a:avLst/>
          </a:prstGeom>
          <a:ln w="10583">
            <a:solidFill>
              <a:srgbClr val="6F675B"/>
            </a:solidFill>
            <a:prstDash val="dash"/>
          </a:ln>
        </p:spPr>
      </p:sp>
      <p:sp>
        <p:nvSpPr>
          <p:cNvPr id="58" name="Text 56"/>
          <p:cNvSpPr/>
          <p:nvPr/>
        </p:nvSpPr>
        <p:spPr>
          <a:xfrm>
            <a:off x="12387710" y="2911244"/>
            <a:ext cx="542032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CE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Maya</a:t>
            </a:r>
            <a:endParaRPr lang="en-US" sz="1500" dirty="0"/>
          </a:p>
        </p:txBody>
      </p:sp>
      <p:sp>
        <p:nvSpPr>
          <p:cNvPr id="59" name="Text 57"/>
          <p:cNvSpPr/>
          <p:nvPr/>
        </p:nvSpPr>
        <p:spPr>
          <a:xfrm>
            <a:off x="11866563" y="3190627"/>
            <a:ext cx="1658847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F6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$40 · started clean</a:t>
            </a:r>
            <a:endParaRPr lang="en-US" sz="825" dirty="0"/>
          </a:p>
        </p:txBody>
      </p:sp>
      <p:sp>
        <p:nvSpPr>
          <p:cNvPr id="60" name="Text 58"/>
          <p:cNvSpPr/>
          <p:nvPr/>
        </p:nvSpPr>
        <p:spPr>
          <a:xfrm>
            <a:off x="11911790" y="3499611"/>
            <a:ext cx="1559347" cy="7342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6450" b="1" spc="-150" kern="0" dirty="0">
                <a:solidFill>
                  <a:srgbClr val="7FAA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$46</a:t>
            </a:r>
            <a:endParaRPr lang="en-US" sz="6450" dirty="0"/>
          </a:p>
        </p:txBody>
      </p:sp>
      <p:sp>
        <p:nvSpPr>
          <p:cNvPr id="61" name="Text 59"/>
          <p:cNvSpPr/>
          <p:nvPr/>
        </p:nvSpPr>
        <p:spPr>
          <a:xfrm>
            <a:off x="12137678" y="4271946"/>
            <a:ext cx="1042095" cy="202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7FAA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+$6 this week</a:t>
            </a:r>
            <a:endParaRPr lang="en-US" sz="975" dirty="0"/>
          </a:p>
        </p:txBody>
      </p:sp>
      <p:sp>
        <p:nvSpPr>
          <p:cNvPr id="62" name="Shape 60"/>
          <p:cNvSpPr/>
          <p:nvPr/>
        </p:nvSpPr>
        <p:spPr>
          <a:xfrm>
            <a:off x="11394199" y="4645422"/>
            <a:ext cx="1031379" cy="281451"/>
          </a:xfrm>
          <a:prstGeom prst="roundRect">
            <a:avLst>
              <a:gd name="adj" fmla="val 50000"/>
            </a:avLst>
          </a:prstGeom>
          <a:ln w="5292">
            <a:solidFill>
              <a:srgbClr val="ECE4D6">
                <a:alpha val="28000"/>
              </a:srgbClr>
            </a:solidFill>
            <a:prstDash val="dash"/>
          </a:ln>
        </p:spPr>
      </p:sp>
      <p:sp>
        <p:nvSpPr>
          <p:cNvPr id="63" name="Text 61"/>
          <p:cNvSpPr/>
          <p:nvPr/>
        </p:nvSpPr>
        <p:spPr>
          <a:xfrm>
            <a:off x="11532840" y="4717389"/>
            <a:ext cx="830296" cy="1756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8A81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chores 3/5 ✓</a:t>
            </a:r>
            <a:endParaRPr lang="en-US" sz="825" dirty="0"/>
          </a:p>
        </p:txBody>
      </p:sp>
      <p:sp>
        <p:nvSpPr>
          <p:cNvPr id="64" name="Shape 62"/>
          <p:cNvSpPr/>
          <p:nvPr/>
        </p:nvSpPr>
        <p:spPr>
          <a:xfrm>
            <a:off x="12501729" y="4645422"/>
            <a:ext cx="1345324" cy="281451"/>
          </a:xfrm>
          <a:prstGeom prst="roundRect">
            <a:avLst>
              <a:gd name="adj" fmla="val 50000"/>
            </a:avLst>
          </a:prstGeom>
          <a:ln w="5292">
            <a:solidFill>
              <a:srgbClr val="ECE4D6">
                <a:alpha val="28000"/>
              </a:srgbClr>
            </a:solidFill>
            <a:prstDash val="dash"/>
          </a:ln>
        </p:spPr>
      </p:sp>
      <p:sp>
        <p:nvSpPr>
          <p:cNvPr id="65" name="Text 63"/>
          <p:cNvSpPr/>
          <p:nvPr/>
        </p:nvSpPr>
        <p:spPr>
          <a:xfrm>
            <a:off x="12640370" y="4717389"/>
            <a:ext cx="1144240" cy="1756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8A81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 by Dana · 2h</a:t>
            </a:r>
            <a:endParaRPr lang="en-US" sz="825" dirty="0"/>
          </a:p>
        </p:txBody>
      </p:sp>
      <p:sp>
        <p:nvSpPr>
          <p:cNvPr id="66" name="Shape 64"/>
          <p:cNvSpPr/>
          <p:nvPr/>
        </p:nvSpPr>
        <p:spPr>
          <a:xfrm>
            <a:off x="10964334" y="7770565"/>
            <a:ext cx="3312584" cy="457068"/>
          </a:xfrm>
          <a:prstGeom prst="roundRect">
            <a:avLst>
              <a:gd name="adj" fmla="val 25007"/>
            </a:avLst>
          </a:prstGeom>
          <a:ln w="10583">
            <a:solidFill>
              <a:srgbClr val="ECE4D6">
                <a:alpha val="35000"/>
              </a:srgbClr>
            </a:solidFill>
            <a:prstDash val="dash"/>
          </a:ln>
        </p:spPr>
      </p:sp>
      <p:sp>
        <p:nvSpPr>
          <p:cNvPr id="67" name="Text 65"/>
          <p:cNvSpPr/>
          <p:nvPr/>
        </p:nvSpPr>
        <p:spPr>
          <a:xfrm>
            <a:off x="11058579" y="7914498"/>
            <a:ext cx="3124094" cy="2073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ECE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chores →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10964334" y="8322883"/>
            <a:ext cx="1603375" cy="446484"/>
          </a:xfrm>
          <a:prstGeom prst="roundRect">
            <a:avLst>
              <a:gd name="adj" fmla="val 25600"/>
            </a:avLst>
          </a:prstGeom>
          <a:solidFill>
            <a:srgbClr val="D8A657"/>
          </a:solidFill>
          <a:ln/>
        </p:spPr>
      </p:sp>
      <p:sp>
        <p:nvSpPr>
          <p:cNvPr id="69" name="Text 67"/>
          <p:cNvSpPr/>
          <p:nvPr/>
        </p:nvSpPr>
        <p:spPr>
          <a:xfrm>
            <a:off x="11059584" y="8456233"/>
            <a:ext cx="1412875" cy="217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6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Bonus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12662958" y="8322883"/>
            <a:ext cx="1613958" cy="446484"/>
          </a:xfrm>
          <a:prstGeom prst="roundRect">
            <a:avLst>
              <a:gd name="adj" fmla="val 25600"/>
            </a:avLst>
          </a:prstGeom>
          <a:ln w="5292">
            <a:solidFill>
              <a:srgbClr val="ECE4D6">
                <a:alpha val="40000"/>
              </a:srgbClr>
            </a:solidFill>
            <a:prstDash val="dash"/>
          </a:ln>
        </p:spPr>
      </p:sp>
      <p:sp>
        <p:nvSpPr>
          <p:cNvPr id="71" name="Text 69"/>
          <p:cNvSpPr/>
          <p:nvPr/>
        </p:nvSpPr>
        <p:spPr>
          <a:xfrm>
            <a:off x="12763500" y="8461524"/>
            <a:ext cx="1412875" cy="2073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ECE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Points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10773834" y="8978884"/>
            <a:ext cx="3693584" cy="9525"/>
          </a:xfrm>
          <a:prstGeom prst="rect">
            <a:avLst/>
          </a:prstGeom>
          <a:solidFill>
            <a:srgbClr val="ECE4D6">
              <a:alpha val="16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11067273" y="9123330"/>
            <a:ext cx="152383" cy="152383"/>
          </a:xfrm>
          <a:prstGeom prst="roundRect">
            <a:avLst>
              <a:gd name="adj" fmla="val 31253"/>
            </a:avLst>
          </a:prstGeom>
          <a:ln w="10583">
            <a:solidFill>
              <a:srgbClr val="D8A657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1020145" y="9313747"/>
            <a:ext cx="322841" cy="154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D8A6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en-US" sz="713" dirty="0"/>
          </a:p>
        </p:txBody>
      </p:sp>
      <p:sp>
        <p:nvSpPr>
          <p:cNvPr id="75" name="Shape 73"/>
          <p:cNvSpPr/>
          <p:nvPr/>
        </p:nvSpPr>
        <p:spPr>
          <a:xfrm>
            <a:off x="11789255" y="9123330"/>
            <a:ext cx="152383" cy="152383"/>
          </a:xfrm>
          <a:prstGeom prst="roundRect">
            <a:avLst>
              <a:gd name="adj" fmla="val 31253"/>
            </a:avLst>
          </a:prstGeom>
          <a:ln w="10583">
            <a:solidFill>
              <a:srgbClr val="6F675B"/>
            </a:solidFill>
            <a:prstDash val="dash"/>
          </a:ln>
        </p:spPr>
      </p:sp>
      <p:sp>
        <p:nvSpPr>
          <p:cNvPr id="76" name="Text 74"/>
          <p:cNvSpPr/>
          <p:nvPr/>
        </p:nvSpPr>
        <p:spPr>
          <a:xfrm>
            <a:off x="11759572" y="9313747"/>
            <a:ext cx="288032" cy="154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6F6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</a:t>
            </a:r>
            <a:endParaRPr lang="en-US" sz="713" dirty="0"/>
          </a:p>
        </p:txBody>
      </p:sp>
      <p:sp>
        <p:nvSpPr>
          <p:cNvPr id="77" name="Shape 75"/>
          <p:cNvSpPr/>
          <p:nvPr/>
        </p:nvSpPr>
        <p:spPr>
          <a:xfrm>
            <a:off x="12506689" y="9123330"/>
            <a:ext cx="152383" cy="152383"/>
          </a:xfrm>
          <a:prstGeom prst="roundRect">
            <a:avLst>
              <a:gd name="adj" fmla="val 31253"/>
            </a:avLst>
          </a:prstGeom>
          <a:ln w="10583">
            <a:solidFill>
              <a:srgbClr val="6F675B"/>
            </a:solidFill>
            <a:prstDash val="dash"/>
          </a:ln>
        </p:spPr>
      </p:sp>
      <p:sp>
        <p:nvSpPr>
          <p:cNvPr id="78" name="Text 76"/>
          <p:cNvSpPr/>
          <p:nvPr/>
        </p:nvSpPr>
        <p:spPr>
          <a:xfrm>
            <a:off x="12464190" y="9313747"/>
            <a:ext cx="313581" cy="154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6F6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</a:t>
            </a:r>
            <a:endParaRPr lang="en-US" sz="713" dirty="0"/>
          </a:p>
        </p:txBody>
      </p:sp>
      <p:sp>
        <p:nvSpPr>
          <p:cNvPr id="79" name="Shape 77"/>
          <p:cNvSpPr/>
          <p:nvPr/>
        </p:nvSpPr>
        <p:spPr>
          <a:xfrm>
            <a:off x="13274891" y="9123330"/>
            <a:ext cx="152383" cy="152383"/>
          </a:xfrm>
          <a:prstGeom prst="roundRect">
            <a:avLst>
              <a:gd name="adj" fmla="val 31253"/>
            </a:avLst>
          </a:prstGeom>
          <a:ln w="10583">
            <a:solidFill>
              <a:srgbClr val="6F675B"/>
            </a:solidFill>
            <a:prstDash val="dash"/>
          </a:ln>
        </p:spPr>
      </p:sp>
      <p:sp>
        <p:nvSpPr>
          <p:cNvPr id="80" name="Text 78"/>
          <p:cNvSpPr/>
          <p:nvPr/>
        </p:nvSpPr>
        <p:spPr>
          <a:xfrm>
            <a:off x="13194275" y="9313747"/>
            <a:ext cx="389815" cy="154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6F6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</a:t>
            </a:r>
            <a:endParaRPr lang="en-US" sz="713" dirty="0"/>
          </a:p>
        </p:txBody>
      </p:sp>
      <p:sp>
        <p:nvSpPr>
          <p:cNvPr id="81" name="Shape 79"/>
          <p:cNvSpPr/>
          <p:nvPr/>
        </p:nvSpPr>
        <p:spPr>
          <a:xfrm>
            <a:off x="14034576" y="9123330"/>
            <a:ext cx="152383" cy="152383"/>
          </a:xfrm>
          <a:prstGeom prst="roundRect">
            <a:avLst>
              <a:gd name="adj" fmla="val 31253"/>
            </a:avLst>
          </a:prstGeom>
          <a:ln w="10583">
            <a:solidFill>
              <a:srgbClr val="6F675B"/>
            </a:solidFill>
            <a:prstDash val="dash"/>
          </a:ln>
        </p:spPr>
      </p:sp>
      <p:sp>
        <p:nvSpPr>
          <p:cNvPr id="82" name="Text 80"/>
          <p:cNvSpPr/>
          <p:nvPr/>
        </p:nvSpPr>
        <p:spPr>
          <a:xfrm>
            <a:off x="14000676" y="9313747"/>
            <a:ext cx="296466" cy="154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6F6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</a:t>
            </a:r>
            <a:endParaRPr lang="en-US" sz="71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51867"/>
            <a:ext cx="327637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D8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203937" y="514284"/>
            <a:ext cx="2328788" cy="472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CE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tracker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511517" y="678326"/>
            <a:ext cx="7832023" cy="281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A8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off chores fast; the day's net is always in view. Two interaction models.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810000" y="1426683"/>
            <a:ext cx="309386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dirty="0">
                <a:solidFill>
                  <a:srgbClr val="D8A6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· Checklist + day net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3810000" y="1845717"/>
            <a:ext cx="3714750" cy="7734267"/>
          </a:xfrm>
          <a:prstGeom prst="roundRect">
            <a:avLst>
              <a:gd name="adj" fmla="val 7692"/>
            </a:avLst>
          </a:prstGeom>
          <a:solidFill>
            <a:srgbClr val="1C1813"/>
          </a:solidFill>
          <a:ln w="10583">
            <a:solidFill>
              <a:srgbClr val="ECE4D6">
                <a:alpha val="28000"/>
              </a:srgbClr>
            </a:solidFill>
            <a:prstDash val="dash"/>
          </a:ln>
          <a:effectLst>
            <a:outerShdw sx="100000" sy="100000" kx="0" ky="0" algn="bl" rotWithShape="0" blurRad="419100" dist="133350" dir="5400000">
              <a:srgbClr val="000000">
                <a:alpha val="5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049117" y="1949400"/>
            <a:ext cx="327554" cy="1756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F6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9:41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6907941" y="1949400"/>
            <a:ext cx="453893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F6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▮▮▮ 5G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4011084" y="2389601"/>
            <a:ext cx="1199274" cy="15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50" kern="0" dirty="0">
                <a:solidFill>
                  <a:srgbClr val="6F6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‹ MAYA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011084" y="2530326"/>
            <a:ext cx="1199274" cy="2656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ECE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 · Jun 19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6835957" y="2389601"/>
            <a:ext cx="487710" cy="15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F6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net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835957" y="2511310"/>
            <a:ext cx="487710" cy="297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7FAA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+$4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011084" y="2941919"/>
            <a:ext cx="3643842" cy="15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13" kern="0" dirty="0">
                <a:solidFill>
                  <a:srgbClr val="6F6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REGULAR CHORES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011084" y="3196911"/>
            <a:ext cx="3312584" cy="410600"/>
          </a:xfrm>
          <a:prstGeom prst="roundRect">
            <a:avLst>
              <a:gd name="adj" fmla="val 25518"/>
            </a:avLst>
          </a:prstGeom>
          <a:ln w="5292">
            <a:solidFill>
              <a:srgbClr val="ECE4D6">
                <a:alpha val="18000"/>
              </a:srgbClr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4130642" y="3306961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D8A657"/>
          </a:solidFill>
          <a:ln/>
        </p:spPr>
      </p:sp>
      <p:sp>
        <p:nvSpPr>
          <p:cNvPr id="16" name="Text 14"/>
          <p:cNvSpPr/>
          <p:nvPr/>
        </p:nvSpPr>
        <p:spPr>
          <a:xfrm>
            <a:off x="4092542" y="3306961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1A16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4435409" y="3317544"/>
            <a:ext cx="2674673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CE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bed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981197" y="3320190"/>
            <a:ext cx="299111" cy="202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7FAA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+$2</a:t>
            </a:r>
            <a:endParaRPr lang="en-US" sz="975" dirty="0"/>
          </a:p>
        </p:txBody>
      </p:sp>
      <p:sp>
        <p:nvSpPr>
          <p:cNvPr id="19" name="Shape 17"/>
          <p:cNvSpPr/>
          <p:nvPr/>
        </p:nvSpPr>
        <p:spPr>
          <a:xfrm>
            <a:off x="4011084" y="3740795"/>
            <a:ext cx="3312584" cy="410600"/>
          </a:xfrm>
          <a:prstGeom prst="roundRect">
            <a:avLst>
              <a:gd name="adj" fmla="val 25518"/>
            </a:avLst>
          </a:prstGeom>
          <a:ln w="5292">
            <a:solidFill>
              <a:srgbClr val="ECE4D6">
                <a:alpha val="18000"/>
              </a:srgbClr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4130642" y="3850845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D8A657"/>
          </a:solidFill>
          <a:ln/>
        </p:spPr>
      </p:sp>
      <p:sp>
        <p:nvSpPr>
          <p:cNvPr id="21" name="Text 19"/>
          <p:cNvSpPr/>
          <p:nvPr/>
        </p:nvSpPr>
        <p:spPr>
          <a:xfrm>
            <a:off x="4092542" y="3850845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1A16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4435409" y="3861429"/>
            <a:ext cx="2674673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CE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Dishes after dinner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981197" y="3864074"/>
            <a:ext cx="299111" cy="202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7FAA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+$3</a:t>
            </a:r>
            <a:endParaRPr lang="en-US" sz="975" dirty="0"/>
          </a:p>
        </p:txBody>
      </p:sp>
      <p:sp>
        <p:nvSpPr>
          <p:cNvPr id="24" name="Shape 22"/>
          <p:cNvSpPr/>
          <p:nvPr/>
        </p:nvSpPr>
        <p:spPr>
          <a:xfrm>
            <a:off x="4011084" y="4284679"/>
            <a:ext cx="3312584" cy="410600"/>
          </a:xfrm>
          <a:prstGeom prst="roundRect">
            <a:avLst>
              <a:gd name="adj" fmla="val 25518"/>
            </a:avLst>
          </a:prstGeom>
          <a:ln w="5292">
            <a:solidFill>
              <a:srgbClr val="ECE4D6">
                <a:alpha val="18000"/>
              </a:srgbClr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4130642" y="4394729"/>
            <a:ext cx="190500" cy="190500"/>
          </a:xfrm>
          <a:prstGeom prst="roundRect">
            <a:avLst>
              <a:gd name="adj" fmla="val 30000"/>
            </a:avLst>
          </a:prstGeom>
          <a:ln w="10583">
            <a:solidFill>
              <a:srgbClr val="ECE4D6">
                <a:alpha val="45000"/>
              </a:srgbClr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4435409" y="4405313"/>
            <a:ext cx="2674673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A8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Homework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981197" y="4407959"/>
            <a:ext cx="299111" cy="202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F6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+$4</a:t>
            </a:r>
            <a:endParaRPr lang="en-US" sz="975" dirty="0"/>
          </a:p>
        </p:txBody>
      </p:sp>
      <p:sp>
        <p:nvSpPr>
          <p:cNvPr id="28" name="Shape 26"/>
          <p:cNvSpPr/>
          <p:nvPr/>
        </p:nvSpPr>
        <p:spPr>
          <a:xfrm>
            <a:off x="4011084" y="4828563"/>
            <a:ext cx="3312584" cy="410600"/>
          </a:xfrm>
          <a:prstGeom prst="roundRect">
            <a:avLst>
              <a:gd name="adj" fmla="val 25518"/>
            </a:avLst>
          </a:prstGeom>
          <a:solidFill>
            <a:srgbClr val="CF7B67">
              <a:alpha val="5000"/>
            </a:srgbClr>
          </a:solidFill>
          <a:ln w="5292">
            <a:solidFill>
              <a:srgbClr val="CF7B67">
                <a:alpha val="40000"/>
              </a:srgbClr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4130642" y="4938614"/>
            <a:ext cx="190500" cy="190500"/>
          </a:xfrm>
          <a:prstGeom prst="roundRect">
            <a:avLst>
              <a:gd name="adj" fmla="val 30000"/>
            </a:avLst>
          </a:prstGeom>
          <a:ln w="10583">
            <a:solidFill>
              <a:srgbClr val="CF7B6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03125" y="4949197"/>
            <a:ext cx="245533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CF7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435409" y="4949197"/>
            <a:ext cx="2674673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CE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dog </a:t>
            </a:r>
            <a:pPr algn="l" indent="0" marL="0">
              <a:buNone/>
            </a:pPr>
            <a:r>
              <a:rPr lang="en-US" sz="825" dirty="0">
                <a:solidFill>
                  <a:srgbClr val="CF7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missed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981197" y="4951843"/>
            <a:ext cx="299111" cy="202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CF7B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−$3</a:t>
            </a:r>
            <a:endParaRPr lang="en-US" sz="975" dirty="0"/>
          </a:p>
        </p:txBody>
      </p:sp>
      <p:sp>
        <p:nvSpPr>
          <p:cNvPr id="33" name="Text 31"/>
          <p:cNvSpPr/>
          <p:nvPr/>
        </p:nvSpPr>
        <p:spPr>
          <a:xfrm>
            <a:off x="4011084" y="5429581"/>
            <a:ext cx="3643842" cy="15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13" kern="0" dirty="0">
                <a:solidFill>
                  <a:srgbClr val="6F6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TODAY'S EXTRAS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011084" y="5684573"/>
            <a:ext cx="3312584" cy="384142"/>
          </a:xfrm>
          <a:prstGeom prst="roundRect">
            <a:avLst>
              <a:gd name="adj" fmla="val 27275"/>
            </a:avLst>
          </a:prstGeom>
          <a:solidFill>
            <a:srgbClr val="7FAA6F">
              <a:alpha val="5000"/>
            </a:srgbClr>
          </a:solidFill>
          <a:ln w="5292">
            <a:solidFill>
              <a:srgbClr val="7FAA6F">
                <a:alpha val="40000"/>
              </a:srgbClr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4130642" y="5797269"/>
            <a:ext cx="3009917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ECE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Helped neighbor </a:t>
            </a:r>
            <a:pPr algn="l" indent="0" marL="0">
              <a:buNone/>
            </a:pPr>
            <a:r>
              <a:rPr lang="en-US" sz="825" dirty="0">
                <a:solidFill>
                  <a:srgbClr val="6F6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Dana</a:t>
            </a:r>
            <a:endParaRPr lang="en-US" sz="975" dirty="0"/>
          </a:p>
        </p:txBody>
      </p:sp>
      <p:sp>
        <p:nvSpPr>
          <p:cNvPr id="36" name="Text 34"/>
          <p:cNvSpPr/>
          <p:nvPr/>
        </p:nvSpPr>
        <p:spPr>
          <a:xfrm>
            <a:off x="6981197" y="5794623"/>
            <a:ext cx="299111" cy="202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7FAA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+$5</a:t>
            </a:r>
            <a:endParaRPr lang="en-US" sz="975" dirty="0"/>
          </a:p>
        </p:txBody>
      </p:sp>
      <p:sp>
        <p:nvSpPr>
          <p:cNvPr id="37" name="Shape 35"/>
          <p:cNvSpPr/>
          <p:nvPr/>
        </p:nvSpPr>
        <p:spPr>
          <a:xfrm>
            <a:off x="4011084" y="8371499"/>
            <a:ext cx="1603375" cy="397867"/>
          </a:xfrm>
          <a:prstGeom prst="roundRect">
            <a:avLst>
              <a:gd name="adj" fmla="val 26334"/>
            </a:avLst>
          </a:prstGeom>
          <a:solidFill>
            <a:srgbClr val="D8A657"/>
          </a:solidFill>
          <a:ln/>
        </p:spPr>
      </p:sp>
      <p:sp>
        <p:nvSpPr>
          <p:cNvPr id="38" name="Text 36"/>
          <p:cNvSpPr/>
          <p:nvPr/>
        </p:nvSpPr>
        <p:spPr>
          <a:xfrm>
            <a:off x="4087284" y="8485799"/>
            <a:ext cx="1450975" cy="20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1A16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Add bonus</a:t>
            </a:r>
            <a:endParaRPr lang="en-US" sz="975" dirty="0"/>
          </a:p>
        </p:txBody>
      </p:sp>
      <p:sp>
        <p:nvSpPr>
          <p:cNvPr id="39" name="Shape 37"/>
          <p:cNvSpPr/>
          <p:nvPr/>
        </p:nvSpPr>
        <p:spPr>
          <a:xfrm>
            <a:off x="5709708" y="8371499"/>
            <a:ext cx="1613958" cy="397867"/>
          </a:xfrm>
          <a:prstGeom prst="roundRect">
            <a:avLst>
              <a:gd name="adj" fmla="val 26334"/>
            </a:avLst>
          </a:prstGeom>
          <a:ln w="5292">
            <a:solidFill>
              <a:srgbClr val="ECE4D6">
                <a:alpha val="40000"/>
              </a:srgbClr>
            </a:solidFill>
            <a:prstDash val="dash"/>
          </a:ln>
        </p:spPr>
      </p:sp>
      <p:sp>
        <p:nvSpPr>
          <p:cNvPr id="40" name="Text 38"/>
          <p:cNvSpPr/>
          <p:nvPr/>
        </p:nvSpPr>
        <p:spPr>
          <a:xfrm>
            <a:off x="5791200" y="8491091"/>
            <a:ext cx="1450975" cy="1967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ECE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Remove points</a:t>
            </a:r>
            <a:endParaRPr lang="en-US" sz="975" dirty="0"/>
          </a:p>
        </p:txBody>
      </p:sp>
      <p:sp>
        <p:nvSpPr>
          <p:cNvPr id="41" name="Shape 39"/>
          <p:cNvSpPr/>
          <p:nvPr/>
        </p:nvSpPr>
        <p:spPr>
          <a:xfrm>
            <a:off x="3820584" y="8978884"/>
            <a:ext cx="3693584" cy="9525"/>
          </a:xfrm>
          <a:prstGeom prst="rect">
            <a:avLst/>
          </a:prstGeom>
          <a:solidFill>
            <a:srgbClr val="ECE4D6">
              <a:alpha val="16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114023" y="9123330"/>
            <a:ext cx="152383" cy="152383"/>
          </a:xfrm>
          <a:prstGeom prst="roundRect">
            <a:avLst>
              <a:gd name="adj" fmla="val 31253"/>
            </a:avLst>
          </a:prstGeom>
          <a:ln w="10583">
            <a:solidFill>
              <a:srgbClr val="6F675B"/>
            </a:solidFill>
            <a:prstDash val="dash"/>
          </a:ln>
        </p:spPr>
      </p:sp>
      <p:sp>
        <p:nvSpPr>
          <p:cNvPr id="43" name="Text 41"/>
          <p:cNvSpPr/>
          <p:nvPr/>
        </p:nvSpPr>
        <p:spPr>
          <a:xfrm>
            <a:off x="4066894" y="9313747"/>
            <a:ext cx="322841" cy="154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6F6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en-US" sz="713" dirty="0"/>
          </a:p>
        </p:txBody>
      </p:sp>
      <p:sp>
        <p:nvSpPr>
          <p:cNvPr id="44" name="Shape 42"/>
          <p:cNvSpPr/>
          <p:nvPr/>
        </p:nvSpPr>
        <p:spPr>
          <a:xfrm>
            <a:off x="4836005" y="9123330"/>
            <a:ext cx="152383" cy="152383"/>
          </a:xfrm>
          <a:prstGeom prst="roundRect">
            <a:avLst>
              <a:gd name="adj" fmla="val 31253"/>
            </a:avLst>
          </a:prstGeom>
          <a:ln w="10583">
            <a:solidFill>
              <a:srgbClr val="D8A65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06322" y="9313747"/>
            <a:ext cx="288032" cy="154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D8A6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</a:t>
            </a:r>
            <a:endParaRPr lang="en-US" sz="713" dirty="0"/>
          </a:p>
        </p:txBody>
      </p:sp>
      <p:sp>
        <p:nvSpPr>
          <p:cNvPr id="46" name="Shape 44"/>
          <p:cNvSpPr/>
          <p:nvPr/>
        </p:nvSpPr>
        <p:spPr>
          <a:xfrm>
            <a:off x="5553439" y="9123330"/>
            <a:ext cx="152383" cy="152383"/>
          </a:xfrm>
          <a:prstGeom prst="roundRect">
            <a:avLst>
              <a:gd name="adj" fmla="val 31253"/>
            </a:avLst>
          </a:prstGeom>
          <a:ln w="10583">
            <a:solidFill>
              <a:srgbClr val="6F675B"/>
            </a:solidFill>
            <a:prstDash val="dash"/>
          </a:ln>
        </p:spPr>
      </p:sp>
      <p:sp>
        <p:nvSpPr>
          <p:cNvPr id="47" name="Text 45"/>
          <p:cNvSpPr/>
          <p:nvPr/>
        </p:nvSpPr>
        <p:spPr>
          <a:xfrm>
            <a:off x="5510940" y="9313747"/>
            <a:ext cx="313581" cy="154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6F6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</a:t>
            </a:r>
            <a:endParaRPr lang="en-US" sz="713" dirty="0"/>
          </a:p>
        </p:txBody>
      </p:sp>
      <p:sp>
        <p:nvSpPr>
          <p:cNvPr id="48" name="Shape 46"/>
          <p:cNvSpPr/>
          <p:nvPr/>
        </p:nvSpPr>
        <p:spPr>
          <a:xfrm>
            <a:off x="6321640" y="9123330"/>
            <a:ext cx="152383" cy="152383"/>
          </a:xfrm>
          <a:prstGeom prst="roundRect">
            <a:avLst>
              <a:gd name="adj" fmla="val 31253"/>
            </a:avLst>
          </a:prstGeom>
          <a:ln w="10583">
            <a:solidFill>
              <a:srgbClr val="6F675B"/>
            </a:solidFill>
            <a:prstDash val="dash"/>
          </a:ln>
        </p:spPr>
      </p:sp>
      <p:sp>
        <p:nvSpPr>
          <p:cNvPr id="49" name="Text 47"/>
          <p:cNvSpPr/>
          <p:nvPr/>
        </p:nvSpPr>
        <p:spPr>
          <a:xfrm>
            <a:off x="6241025" y="9313747"/>
            <a:ext cx="389814" cy="154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6F6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</a:t>
            </a:r>
            <a:endParaRPr lang="en-US" sz="713" dirty="0"/>
          </a:p>
        </p:txBody>
      </p:sp>
      <p:sp>
        <p:nvSpPr>
          <p:cNvPr id="50" name="Shape 48"/>
          <p:cNvSpPr/>
          <p:nvPr/>
        </p:nvSpPr>
        <p:spPr>
          <a:xfrm>
            <a:off x="7081325" y="9123330"/>
            <a:ext cx="152383" cy="152383"/>
          </a:xfrm>
          <a:prstGeom prst="roundRect">
            <a:avLst>
              <a:gd name="adj" fmla="val 31253"/>
            </a:avLst>
          </a:prstGeom>
          <a:ln w="10583">
            <a:solidFill>
              <a:srgbClr val="6F675B"/>
            </a:solidFill>
            <a:prstDash val="dash"/>
          </a:ln>
        </p:spPr>
      </p:sp>
      <p:sp>
        <p:nvSpPr>
          <p:cNvPr id="51" name="Text 49"/>
          <p:cNvSpPr/>
          <p:nvPr/>
        </p:nvSpPr>
        <p:spPr>
          <a:xfrm>
            <a:off x="7047426" y="9313747"/>
            <a:ext cx="296466" cy="154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6F6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</a:t>
            </a:r>
            <a:endParaRPr lang="en-US" sz="713" dirty="0"/>
          </a:p>
        </p:txBody>
      </p:sp>
      <p:sp>
        <p:nvSpPr>
          <p:cNvPr id="52" name="Text 50"/>
          <p:cNvSpPr/>
          <p:nvPr/>
        </p:nvSpPr>
        <p:spPr>
          <a:xfrm>
            <a:off x="8191501" y="4539175"/>
            <a:ext cx="1981200" cy="1966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025" dirty="0">
                <a:solidFill>
                  <a:srgbClr val="D8A6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removing points always asks "why?" — adding a bonus, the note is optional.</a:t>
            </a:r>
            <a:endParaRPr lang="en-US" sz="2025" dirty="0"/>
          </a:p>
        </p:txBody>
      </p:sp>
      <p:sp>
        <p:nvSpPr>
          <p:cNvPr id="53" name="Text 51"/>
          <p:cNvSpPr/>
          <p:nvPr/>
        </p:nvSpPr>
        <p:spPr>
          <a:xfrm>
            <a:off x="10763250" y="1426683"/>
            <a:ext cx="33690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dirty="0">
                <a:solidFill>
                  <a:srgbClr val="D8A6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· Tap-to-cycle, by time</a:t>
            </a:r>
            <a:endParaRPr lang="en-US" sz="2250" dirty="0"/>
          </a:p>
        </p:txBody>
      </p:sp>
      <p:sp>
        <p:nvSpPr>
          <p:cNvPr id="54" name="Shape 52"/>
          <p:cNvSpPr/>
          <p:nvPr/>
        </p:nvSpPr>
        <p:spPr>
          <a:xfrm>
            <a:off x="10763250" y="1845717"/>
            <a:ext cx="3714750" cy="7734267"/>
          </a:xfrm>
          <a:prstGeom prst="roundRect">
            <a:avLst>
              <a:gd name="adj" fmla="val 7692"/>
            </a:avLst>
          </a:prstGeom>
          <a:solidFill>
            <a:srgbClr val="1C1813"/>
          </a:solidFill>
          <a:ln w="10583">
            <a:solidFill>
              <a:srgbClr val="ECE4D6">
                <a:alpha val="28000"/>
              </a:srgbClr>
            </a:solidFill>
            <a:prstDash val="dash"/>
          </a:ln>
          <a:effectLst>
            <a:outerShdw sx="100000" sy="100000" kx="0" ky="0" algn="bl" rotWithShape="0" blurRad="419100" dist="133350" dir="5400000">
              <a:srgbClr val="000000">
                <a:alpha val="50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11002368" y="1949400"/>
            <a:ext cx="327554" cy="1756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F6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9:41</a:t>
            </a:r>
            <a:endParaRPr lang="en-US" sz="825" dirty="0"/>
          </a:p>
        </p:txBody>
      </p:sp>
      <p:sp>
        <p:nvSpPr>
          <p:cNvPr id="56" name="Text 54"/>
          <p:cNvSpPr/>
          <p:nvPr/>
        </p:nvSpPr>
        <p:spPr>
          <a:xfrm>
            <a:off x="13861191" y="1949400"/>
            <a:ext cx="453893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F6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▮▮▮ 5G</a:t>
            </a:r>
            <a:endParaRPr lang="en-US" sz="825" dirty="0"/>
          </a:p>
        </p:txBody>
      </p:sp>
      <p:sp>
        <p:nvSpPr>
          <p:cNvPr id="57" name="Text 55"/>
          <p:cNvSpPr/>
          <p:nvPr/>
        </p:nvSpPr>
        <p:spPr>
          <a:xfrm>
            <a:off x="10964334" y="2389601"/>
            <a:ext cx="1199274" cy="15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50" kern="0" dirty="0">
                <a:solidFill>
                  <a:srgbClr val="6F6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‹ THEO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10964334" y="2530326"/>
            <a:ext cx="1199274" cy="2656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ECE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 · Jun 19</a:t>
            </a:r>
            <a:endParaRPr lang="en-US" sz="1575" dirty="0"/>
          </a:p>
        </p:txBody>
      </p:sp>
      <p:sp>
        <p:nvSpPr>
          <p:cNvPr id="59" name="Text 57"/>
          <p:cNvSpPr/>
          <p:nvPr/>
        </p:nvSpPr>
        <p:spPr>
          <a:xfrm>
            <a:off x="13789207" y="2389601"/>
            <a:ext cx="487710" cy="15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F6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net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13789207" y="2511310"/>
            <a:ext cx="487710" cy="297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F7B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−$6</a:t>
            </a:r>
            <a:endParaRPr lang="en-US" sz="1800" dirty="0"/>
          </a:p>
        </p:txBody>
      </p:sp>
      <p:sp>
        <p:nvSpPr>
          <p:cNvPr id="61" name="Text 59"/>
          <p:cNvSpPr/>
          <p:nvPr/>
        </p:nvSpPr>
        <p:spPr>
          <a:xfrm>
            <a:off x="10964334" y="2922902"/>
            <a:ext cx="3643842" cy="15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13" kern="0" dirty="0">
                <a:solidFill>
                  <a:srgbClr val="6F6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MORNING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10964334" y="3177894"/>
            <a:ext cx="3312584" cy="425318"/>
          </a:xfrm>
          <a:prstGeom prst="roundRect">
            <a:avLst>
              <a:gd name="adj" fmla="val 24635"/>
            </a:avLst>
          </a:prstGeom>
          <a:ln w="5292">
            <a:solidFill>
              <a:srgbClr val="ECE4D6">
                <a:alpha val="18000"/>
              </a:srgbClr>
            </a:solidFill>
            <a:prstDash val="dash"/>
          </a:ln>
        </p:spPr>
      </p:sp>
      <p:sp>
        <p:nvSpPr>
          <p:cNvPr id="63" name="Text 61"/>
          <p:cNvSpPr/>
          <p:nvPr/>
        </p:nvSpPr>
        <p:spPr>
          <a:xfrm>
            <a:off x="11083892" y="3305886"/>
            <a:ext cx="2480948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CE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bed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13453567" y="3287944"/>
            <a:ext cx="703792" cy="205217"/>
          </a:xfrm>
          <a:prstGeom prst="roundRect">
            <a:avLst>
              <a:gd name="adj" fmla="val 50000"/>
            </a:avLst>
          </a:prstGeom>
          <a:ln w="5292">
            <a:solidFill>
              <a:srgbClr val="7FAA6F">
                <a:alpha val="5000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3554109" y="3321811"/>
            <a:ext cx="578908" cy="175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7FAA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 +$2</a:t>
            </a:r>
            <a:endParaRPr lang="en-US" sz="825" dirty="0"/>
          </a:p>
        </p:txBody>
      </p:sp>
      <p:sp>
        <p:nvSpPr>
          <p:cNvPr id="66" name="Shape 64"/>
          <p:cNvSpPr/>
          <p:nvPr/>
        </p:nvSpPr>
        <p:spPr>
          <a:xfrm>
            <a:off x="10964334" y="3736496"/>
            <a:ext cx="3312584" cy="425318"/>
          </a:xfrm>
          <a:prstGeom prst="roundRect">
            <a:avLst>
              <a:gd name="adj" fmla="val 24635"/>
            </a:avLst>
          </a:prstGeom>
          <a:ln w="5292">
            <a:solidFill>
              <a:srgbClr val="ECE4D6">
                <a:alpha val="18000"/>
              </a:srgbClr>
            </a:solidFill>
            <a:prstDash val="dash"/>
          </a:ln>
        </p:spPr>
      </p:sp>
      <p:sp>
        <p:nvSpPr>
          <p:cNvPr id="67" name="Text 65"/>
          <p:cNvSpPr/>
          <p:nvPr/>
        </p:nvSpPr>
        <p:spPr>
          <a:xfrm>
            <a:off x="11083892" y="3864488"/>
            <a:ext cx="2480948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CE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 own bag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13453567" y="3846546"/>
            <a:ext cx="703792" cy="205217"/>
          </a:xfrm>
          <a:prstGeom prst="roundRect">
            <a:avLst>
              <a:gd name="adj" fmla="val 50000"/>
            </a:avLst>
          </a:prstGeom>
          <a:ln w="5292">
            <a:solidFill>
              <a:srgbClr val="7FAA6F">
                <a:alpha val="5000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554109" y="3880412"/>
            <a:ext cx="578908" cy="175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7FAA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 +$2</a:t>
            </a:r>
            <a:endParaRPr lang="en-US" sz="825" dirty="0"/>
          </a:p>
        </p:txBody>
      </p:sp>
      <p:sp>
        <p:nvSpPr>
          <p:cNvPr id="70" name="Text 68"/>
          <p:cNvSpPr/>
          <p:nvPr/>
        </p:nvSpPr>
        <p:spPr>
          <a:xfrm>
            <a:off x="10964334" y="4333131"/>
            <a:ext cx="3643842" cy="15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13" kern="0" dirty="0">
                <a:solidFill>
                  <a:srgbClr val="6F6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AFTERNOON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10964334" y="4588123"/>
            <a:ext cx="3312584" cy="425318"/>
          </a:xfrm>
          <a:prstGeom prst="roundRect">
            <a:avLst>
              <a:gd name="adj" fmla="val 24635"/>
            </a:avLst>
          </a:prstGeom>
          <a:ln w="5292">
            <a:solidFill>
              <a:srgbClr val="ECE4D6">
                <a:alpha val="18000"/>
              </a:srgbClr>
            </a:solidFill>
            <a:prstDash val="dash"/>
          </a:ln>
        </p:spPr>
      </p:sp>
      <p:sp>
        <p:nvSpPr>
          <p:cNvPr id="72" name="Text 70"/>
          <p:cNvSpPr/>
          <p:nvPr/>
        </p:nvSpPr>
        <p:spPr>
          <a:xfrm>
            <a:off x="11083892" y="4716115"/>
            <a:ext cx="2480948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A8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Homework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13453567" y="4698173"/>
            <a:ext cx="703792" cy="205217"/>
          </a:xfrm>
          <a:prstGeom prst="roundRect">
            <a:avLst>
              <a:gd name="adj" fmla="val 50000"/>
            </a:avLst>
          </a:prstGeom>
          <a:ln w="5292">
            <a:solidFill>
              <a:srgbClr val="ECE4D6">
                <a:alpha val="40000"/>
              </a:srgbClr>
            </a:solidFill>
            <a:prstDash val="dash"/>
          </a:ln>
        </p:spPr>
      </p:sp>
      <p:sp>
        <p:nvSpPr>
          <p:cNvPr id="74" name="Text 72"/>
          <p:cNvSpPr/>
          <p:nvPr/>
        </p:nvSpPr>
        <p:spPr>
          <a:xfrm>
            <a:off x="13554109" y="4732040"/>
            <a:ext cx="578908" cy="175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8A81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TODO +$4</a:t>
            </a:r>
            <a:endParaRPr lang="en-US" sz="825" dirty="0"/>
          </a:p>
        </p:txBody>
      </p:sp>
      <p:sp>
        <p:nvSpPr>
          <p:cNvPr id="75" name="Text 73"/>
          <p:cNvSpPr/>
          <p:nvPr/>
        </p:nvSpPr>
        <p:spPr>
          <a:xfrm>
            <a:off x="10964334" y="5184759"/>
            <a:ext cx="3643842" cy="15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13" kern="0" dirty="0">
                <a:solidFill>
                  <a:srgbClr val="6F6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EVENING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10964334" y="5439751"/>
            <a:ext cx="3312584" cy="425318"/>
          </a:xfrm>
          <a:prstGeom prst="roundRect">
            <a:avLst>
              <a:gd name="adj" fmla="val 24635"/>
            </a:avLst>
          </a:prstGeom>
          <a:solidFill>
            <a:srgbClr val="CF7B67">
              <a:alpha val="5000"/>
            </a:srgbClr>
          </a:solidFill>
          <a:ln w="5292">
            <a:solidFill>
              <a:srgbClr val="CF7B67">
                <a:alpha val="40000"/>
              </a:srgbClr>
            </a:solidFill>
            <a:prstDash val="dash"/>
          </a:ln>
        </p:spPr>
      </p:sp>
      <p:sp>
        <p:nvSpPr>
          <p:cNvPr id="77" name="Text 75"/>
          <p:cNvSpPr/>
          <p:nvPr/>
        </p:nvSpPr>
        <p:spPr>
          <a:xfrm>
            <a:off x="11083892" y="5567743"/>
            <a:ext cx="2342704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CE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dog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13327890" y="5549801"/>
            <a:ext cx="829469" cy="205217"/>
          </a:xfrm>
          <a:prstGeom prst="roundRect">
            <a:avLst>
              <a:gd name="adj" fmla="val 50000"/>
            </a:avLst>
          </a:prstGeom>
          <a:ln w="5292">
            <a:solidFill>
              <a:srgbClr val="CF7B67">
                <a:alpha val="55000"/>
              </a:srgbClr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3428432" y="5583667"/>
            <a:ext cx="704585" cy="175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CF7B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MISSED −$3</a:t>
            </a:r>
            <a:endParaRPr lang="en-US" sz="825" dirty="0"/>
          </a:p>
        </p:txBody>
      </p:sp>
      <p:sp>
        <p:nvSpPr>
          <p:cNvPr id="80" name="Shape 78"/>
          <p:cNvSpPr/>
          <p:nvPr/>
        </p:nvSpPr>
        <p:spPr>
          <a:xfrm>
            <a:off x="10964334" y="5998352"/>
            <a:ext cx="3312584" cy="425318"/>
          </a:xfrm>
          <a:prstGeom prst="roundRect">
            <a:avLst>
              <a:gd name="adj" fmla="val 24635"/>
            </a:avLst>
          </a:prstGeom>
          <a:solidFill>
            <a:srgbClr val="CF7B67">
              <a:alpha val="5000"/>
            </a:srgbClr>
          </a:solidFill>
          <a:ln w="5292">
            <a:solidFill>
              <a:srgbClr val="CF7B67">
                <a:alpha val="40000"/>
              </a:srgbClr>
            </a:solidFill>
            <a:prstDash val="dash"/>
          </a:ln>
        </p:spPr>
      </p:sp>
      <p:sp>
        <p:nvSpPr>
          <p:cNvPr id="81" name="Text 79"/>
          <p:cNvSpPr/>
          <p:nvPr/>
        </p:nvSpPr>
        <p:spPr>
          <a:xfrm>
            <a:off x="11083892" y="6126345"/>
            <a:ext cx="2342704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CE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Tidy room </a:t>
            </a:r>
            <a:pPr algn="l" indent="0" marL="0">
              <a:buNone/>
            </a:pPr>
            <a:r>
              <a:rPr lang="en-US" sz="825" dirty="0">
                <a:solidFill>
                  <a:srgbClr val="CF7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"left a mess"</a:t>
            </a:r>
            <a:endParaRPr lang="en-US" sz="1050" dirty="0"/>
          </a:p>
        </p:txBody>
      </p:sp>
      <p:sp>
        <p:nvSpPr>
          <p:cNvPr id="82" name="Shape 80"/>
          <p:cNvSpPr/>
          <p:nvPr/>
        </p:nvSpPr>
        <p:spPr>
          <a:xfrm>
            <a:off x="13327890" y="6108403"/>
            <a:ext cx="829469" cy="205217"/>
          </a:xfrm>
          <a:prstGeom prst="roundRect">
            <a:avLst>
              <a:gd name="adj" fmla="val 50000"/>
            </a:avLst>
          </a:prstGeom>
          <a:ln w="5292">
            <a:solidFill>
              <a:srgbClr val="CF7B67">
                <a:alpha val="55000"/>
              </a:srgbClr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13428432" y="6142269"/>
            <a:ext cx="704585" cy="175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CF7B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MISSED −$2</a:t>
            </a:r>
            <a:endParaRPr lang="en-US" sz="825" dirty="0"/>
          </a:p>
        </p:txBody>
      </p:sp>
      <p:sp>
        <p:nvSpPr>
          <p:cNvPr id="84" name="Shape 82"/>
          <p:cNvSpPr/>
          <p:nvPr/>
        </p:nvSpPr>
        <p:spPr>
          <a:xfrm>
            <a:off x="10964334" y="8371499"/>
            <a:ext cx="1603375" cy="397867"/>
          </a:xfrm>
          <a:prstGeom prst="roundRect">
            <a:avLst>
              <a:gd name="adj" fmla="val 26334"/>
            </a:avLst>
          </a:prstGeom>
          <a:solidFill>
            <a:srgbClr val="D8A657"/>
          </a:solidFill>
          <a:ln/>
        </p:spPr>
      </p:sp>
      <p:sp>
        <p:nvSpPr>
          <p:cNvPr id="85" name="Text 83"/>
          <p:cNvSpPr/>
          <p:nvPr/>
        </p:nvSpPr>
        <p:spPr>
          <a:xfrm>
            <a:off x="11040534" y="8485799"/>
            <a:ext cx="1450975" cy="207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1A16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Add bonus</a:t>
            </a:r>
            <a:endParaRPr lang="en-US" sz="975" dirty="0"/>
          </a:p>
        </p:txBody>
      </p:sp>
      <p:sp>
        <p:nvSpPr>
          <p:cNvPr id="86" name="Shape 84"/>
          <p:cNvSpPr/>
          <p:nvPr/>
        </p:nvSpPr>
        <p:spPr>
          <a:xfrm>
            <a:off x="12662958" y="8371499"/>
            <a:ext cx="1613958" cy="397867"/>
          </a:xfrm>
          <a:prstGeom prst="roundRect">
            <a:avLst>
              <a:gd name="adj" fmla="val 26334"/>
            </a:avLst>
          </a:prstGeom>
          <a:ln w="5292">
            <a:solidFill>
              <a:srgbClr val="ECE4D6">
                <a:alpha val="40000"/>
              </a:srgbClr>
            </a:solidFill>
            <a:prstDash val="dash"/>
          </a:ln>
        </p:spPr>
      </p:sp>
      <p:sp>
        <p:nvSpPr>
          <p:cNvPr id="87" name="Text 85"/>
          <p:cNvSpPr/>
          <p:nvPr/>
        </p:nvSpPr>
        <p:spPr>
          <a:xfrm>
            <a:off x="12744450" y="8491091"/>
            <a:ext cx="1450975" cy="1967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ECE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Remove points</a:t>
            </a:r>
            <a:endParaRPr lang="en-US" sz="975" dirty="0"/>
          </a:p>
        </p:txBody>
      </p:sp>
      <p:sp>
        <p:nvSpPr>
          <p:cNvPr id="88" name="Shape 86"/>
          <p:cNvSpPr/>
          <p:nvPr/>
        </p:nvSpPr>
        <p:spPr>
          <a:xfrm>
            <a:off x="10773834" y="8978884"/>
            <a:ext cx="3693584" cy="9525"/>
          </a:xfrm>
          <a:prstGeom prst="rect">
            <a:avLst/>
          </a:prstGeom>
          <a:solidFill>
            <a:srgbClr val="ECE4D6">
              <a:alpha val="16000"/>
            </a:srgbClr>
          </a:solidFill>
          <a:ln/>
        </p:spPr>
      </p:sp>
      <p:sp>
        <p:nvSpPr>
          <p:cNvPr id="89" name="Shape 87"/>
          <p:cNvSpPr/>
          <p:nvPr/>
        </p:nvSpPr>
        <p:spPr>
          <a:xfrm>
            <a:off x="11067273" y="9123330"/>
            <a:ext cx="152383" cy="152383"/>
          </a:xfrm>
          <a:prstGeom prst="roundRect">
            <a:avLst>
              <a:gd name="adj" fmla="val 31253"/>
            </a:avLst>
          </a:prstGeom>
          <a:ln w="10583">
            <a:solidFill>
              <a:srgbClr val="6F675B"/>
            </a:solidFill>
            <a:prstDash val="dash"/>
          </a:ln>
        </p:spPr>
      </p:sp>
      <p:sp>
        <p:nvSpPr>
          <p:cNvPr id="90" name="Text 88"/>
          <p:cNvSpPr/>
          <p:nvPr/>
        </p:nvSpPr>
        <p:spPr>
          <a:xfrm>
            <a:off x="11020145" y="9313747"/>
            <a:ext cx="322841" cy="154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6F6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en-US" sz="713" dirty="0"/>
          </a:p>
        </p:txBody>
      </p:sp>
      <p:sp>
        <p:nvSpPr>
          <p:cNvPr id="91" name="Shape 89"/>
          <p:cNvSpPr/>
          <p:nvPr/>
        </p:nvSpPr>
        <p:spPr>
          <a:xfrm>
            <a:off x="11789255" y="9123330"/>
            <a:ext cx="152383" cy="152383"/>
          </a:xfrm>
          <a:prstGeom prst="roundRect">
            <a:avLst>
              <a:gd name="adj" fmla="val 31253"/>
            </a:avLst>
          </a:prstGeom>
          <a:ln w="10583">
            <a:solidFill>
              <a:srgbClr val="D8A657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1759572" y="9313747"/>
            <a:ext cx="288032" cy="154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D8A6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</a:t>
            </a:r>
            <a:endParaRPr lang="en-US" sz="713" dirty="0"/>
          </a:p>
        </p:txBody>
      </p:sp>
      <p:sp>
        <p:nvSpPr>
          <p:cNvPr id="93" name="Shape 91"/>
          <p:cNvSpPr/>
          <p:nvPr/>
        </p:nvSpPr>
        <p:spPr>
          <a:xfrm>
            <a:off x="12506689" y="9123330"/>
            <a:ext cx="152383" cy="152383"/>
          </a:xfrm>
          <a:prstGeom prst="roundRect">
            <a:avLst>
              <a:gd name="adj" fmla="val 31253"/>
            </a:avLst>
          </a:prstGeom>
          <a:ln w="10583">
            <a:solidFill>
              <a:srgbClr val="6F675B"/>
            </a:solidFill>
            <a:prstDash val="dash"/>
          </a:ln>
        </p:spPr>
      </p:sp>
      <p:sp>
        <p:nvSpPr>
          <p:cNvPr id="94" name="Text 92"/>
          <p:cNvSpPr/>
          <p:nvPr/>
        </p:nvSpPr>
        <p:spPr>
          <a:xfrm>
            <a:off x="12464190" y="9313747"/>
            <a:ext cx="313581" cy="154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6F6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</a:t>
            </a:r>
            <a:endParaRPr lang="en-US" sz="713" dirty="0"/>
          </a:p>
        </p:txBody>
      </p:sp>
      <p:sp>
        <p:nvSpPr>
          <p:cNvPr id="95" name="Shape 93"/>
          <p:cNvSpPr/>
          <p:nvPr/>
        </p:nvSpPr>
        <p:spPr>
          <a:xfrm>
            <a:off x="13274891" y="9123330"/>
            <a:ext cx="152383" cy="152383"/>
          </a:xfrm>
          <a:prstGeom prst="roundRect">
            <a:avLst>
              <a:gd name="adj" fmla="val 31253"/>
            </a:avLst>
          </a:prstGeom>
          <a:ln w="10583">
            <a:solidFill>
              <a:srgbClr val="6F675B"/>
            </a:solidFill>
            <a:prstDash val="dash"/>
          </a:ln>
        </p:spPr>
      </p:sp>
      <p:sp>
        <p:nvSpPr>
          <p:cNvPr id="96" name="Text 94"/>
          <p:cNvSpPr/>
          <p:nvPr/>
        </p:nvSpPr>
        <p:spPr>
          <a:xfrm>
            <a:off x="13194275" y="9313747"/>
            <a:ext cx="389815" cy="154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6F6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</a:t>
            </a:r>
            <a:endParaRPr lang="en-US" sz="713" dirty="0"/>
          </a:p>
        </p:txBody>
      </p:sp>
      <p:sp>
        <p:nvSpPr>
          <p:cNvPr id="97" name="Shape 95"/>
          <p:cNvSpPr/>
          <p:nvPr/>
        </p:nvSpPr>
        <p:spPr>
          <a:xfrm>
            <a:off x="14034576" y="9123330"/>
            <a:ext cx="152383" cy="152383"/>
          </a:xfrm>
          <a:prstGeom prst="roundRect">
            <a:avLst>
              <a:gd name="adj" fmla="val 31253"/>
            </a:avLst>
          </a:prstGeom>
          <a:ln w="10583">
            <a:solidFill>
              <a:srgbClr val="6F675B"/>
            </a:solidFill>
            <a:prstDash val="dash"/>
          </a:ln>
        </p:spPr>
      </p:sp>
      <p:sp>
        <p:nvSpPr>
          <p:cNvPr id="98" name="Text 96"/>
          <p:cNvSpPr/>
          <p:nvPr/>
        </p:nvSpPr>
        <p:spPr>
          <a:xfrm>
            <a:off x="14000676" y="9313747"/>
            <a:ext cx="296466" cy="154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6F6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</a:t>
            </a:r>
            <a:endParaRPr lang="en-US" sz="713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51867"/>
            <a:ext cx="327637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D8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203937" y="514284"/>
            <a:ext cx="2865396" cy="472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CE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out week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999343" y="678326"/>
            <a:ext cx="8156352" cy="281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A8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memorable moment — totals count up, then payout vs. rollover resolves.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76875" y="1426683"/>
            <a:ext cx="259181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dirty="0">
                <a:solidFill>
                  <a:srgbClr val="D8A6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Ledger-tape reveal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5476875" y="1845717"/>
            <a:ext cx="3714750" cy="7734267"/>
          </a:xfrm>
          <a:prstGeom prst="roundRect">
            <a:avLst>
              <a:gd name="adj" fmla="val 7692"/>
            </a:avLst>
          </a:prstGeom>
          <a:solidFill>
            <a:srgbClr val="1C1813"/>
          </a:solidFill>
          <a:ln w="10583">
            <a:solidFill>
              <a:srgbClr val="ECE4D6">
                <a:alpha val="28000"/>
              </a:srgbClr>
            </a:solidFill>
            <a:prstDash val="dash"/>
          </a:ln>
          <a:effectLst>
            <a:outerShdw sx="100000" sy="100000" kx="0" ky="0" algn="bl" rotWithShape="0" blurRad="419100" dist="133350" dir="5400000">
              <a:srgbClr val="000000">
                <a:alpha val="5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15992" y="1949400"/>
            <a:ext cx="327554" cy="1756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F6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9:41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8574816" y="1949400"/>
            <a:ext cx="453893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F6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▮▮▮ 5G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5677959" y="2389601"/>
            <a:ext cx="3643842" cy="15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50" kern="0" dirty="0">
                <a:solidFill>
                  <a:srgbClr val="D8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 OUT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677959" y="2539835"/>
            <a:ext cx="3643842" cy="2656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ECE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of Jun 16 – 22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5677959" y="2795902"/>
            <a:ext cx="364384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8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the math, then reset the week.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677959" y="3072061"/>
            <a:ext cx="3312584" cy="2027204"/>
          </a:xfrm>
          <a:prstGeom prst="roundRect">
            <a:avLst>
              <a:gd name="adj" fmla="val 6578"/>
            </a:avLst>
          </a:prstGeom>
          <a:ln w="5292">
            <a:solidFill>
              <a:srgbClr val="ECE4D6">
                <a:alpha val="22000"/>
              </a:srgbClr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5816534" y="3210636"/>
            <a:ext cx="425615" cy="202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ECE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Maya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8349258" y="3223865"/>
            <a:ext cx="578908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F6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$40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5816534" y="3460337"/>
            <a:ext cx="47059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8A81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Opened</a:t>
            </a:r>
            <a:endParaRPr lang="en-US" sz="863" dirty="0"/>
          </a:p>
        </p:txBody>
      </p:sp>
      <p:sp>
        <p:nvSpPr>
          <p:cNvPr id="16" name="Text 14"/>
          <p:cNvSpPr/>
          <p:nvPr/>
        </p:nvSpPr>
        <p:spPr>
          <a:xfrm>
            <a:off x="8654769" y="3460337"/>
            <a:ext cx="27339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8A81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$40</a:t>
            </a:r>
            <a:endParaRPr lang="en-US" sz="863" dirty="0"/>
          </a:p>
        </p:txBody>
      </p:sp>
      <p:sp>
        <p:nvSpPr>
          <p:cNvPr id="17" name="Text 15"/>
          <p:cNvSpPr/>
          <p:nvPr/>
        </p:nvSpPr>
        <p:spPr>
          <a:xfrm>
            <a:off x="5816534" y="3631737"/>
            <a:ext cx="79917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8A81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Chores done</a:t>
            </a:r>
            <a:endParaRPr lang="en-US" sz="863" dirty="0"/>
          </a:p>
        </p:txBody>
      </p:sp>
      <p:sp>
        <p:nvSpPr>
          <p:cNvPr id="18" name="Text 16"/>
          <p:cNvSpPr/>
          <p:nvPr/>
        </p:nvSpPr>
        <p:spPr>
          <a:xfrm>
            <a:off x="8589037" y="3631737"/>
            <a:ext cx="33913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7FAA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+$10</a:t>
            </a:r>
            <a:endParaRPr lang="en-US" sz="863" dirty="0"/>
          </a:p>
        </p:txBody>
      </p:sp>
      <p:sp>
        <p:nvSpPr>
          <p:cNvPr id="19" name="Text 17"/>
          <p:cNvSpPr/>
          <p:nvPr/>
        </p:nvSpPr>
        <p:spPr>
          <a:xfrm>
            <a:off x="5816534" y="3803138"/>
            <a:ext cx="125921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8A81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Bonus · helped out</a:t>
            </a:r>
            <a:endParaRPr lang="en-US" sz="863" dirty="0"/>
          </a:p>
        </p:txBody>
      </p:sp>
      <p:sp>
        <p:nvSpPr>
          <p:cNvPr id="20" name="Text 18"/>
          <p:cNvSpPr/>
          <p:nvPr/>
        </p:nvSpPr>
        <p:spPr>
          <a:xfrm>
            <a:off x="8654769" y="3803138"/>
            <a:ext cx="27339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7FAA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+$2</a:t>
            </a:r>
            <a:endParaRPr lang="en-US" sz="863" dirty="0"/>
          </a:p>
        </p:txBody>
      </p:sp>
      <p:sp>
        <p:nvSpPr>
          <p:cNvPr id="21" name="Text 19"/>
          <p:cNvSpPr/>
          <p:nvPr/>
        </p:nvSpPr>
        <p:spPr>
          <a:xfrm>
            <a:off x="5816534" y="3974538"/>
            <a:ext cx="93063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8A81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Missed chores</a:t>
            </a:r>
            <a:endParaRPr lang="en-US" sz="863" dirty="0"/>
          </a:p>
        </p:txBody>
      </p:sp>
      <p:sp>
        <p:nvSpPr>
          <p:cNvPr id="22" name="Text 20"/>
          <p:cNvSpPr/>
          <p:nvPr/>
        </p:nvSpPr>
        <p:spPr>
          <a:xfrm>
            <a:off x="8654769" y="3974538"/>
            <a:ext cx="27339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CF7B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−$6</a:t>
            </a:r>
            <a:endParaRPr lang="en-US" sz="863" dirty="0"/>
          </a:p>
        </p:txBody>
      </p:sp>
      <p:sp>
        <p:nvSpPr>
          <p:cNvPr id="23" name="Shape 21"/>
          <p:cNvSpPr/>
          <p:nvPr/>
        </p:nvSpPr>
        <p:spPr>
          <a:xfrm>
            <a:off x="5816534" y="4203072"/>
            <a:ext cx="3035432" cy="9525"/>
          </a:xfrm>
          <a:prstGeom prst="rect">
            <a:avLst/>
          </a:prstGeom>
          <a:solidFill>
            <a:srgbClr val="ECE4D6">
              <a:alpha val="2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816534" y="4362318"/>
            <a:ext cx="390393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F6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8303204" y="4294022"/>
            <a:ext cx="624962" cy="3123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7FAA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$46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816534" y="4653938"/>
            <a:ext cx="3126495" cy="3448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7FAA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 → pay out $46 today. Next week resets clean to $40.</a:t>
            </a:r>
            <a:endParaRPr lang="en-US" sz="863" dirty="0"/>
          </a:p>
        </p:txBody>
      </p:sp>
      <p:sp>
        <p:nvSpPr>
          <p:cNvPr id="27" name="Shape 25"/>
          <p:cNvSpPr/>
          <p:nvPr/>
        </p:nvSpPr>
        <p:spPr>
          <a:xfrm>
            <a:off x="5677959" y="5232549"/>
            <a:ext cx="3312584" cy="1855804"/>
          </a:xfrm>
          <a:prstGeom prst="roundRect">
            <a:avLst>
              <a:gd name="adj" fmla="val 7186"/>
            </a:avLst>
          </a:prstGeom>
          <a:ln w="5292">
            <a:solidFill>
              <a:srgbClr val="ECE4D6">
                <a:alpha val="22000"/>
              </a:srgbClr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5816534" y="5371124"/>
            <a:ext cx="401886" cy="202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ECE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</a:t>
            </a:r>
            <a:endParaRPr lang="en-US" sz="1125" dirty="0"/>
          </a:p>
        </p:txBody>
      </p:sp>
      <p:sp>
        <p:nvSpPr>
          <p:cNvPr id="29" name="Text 27"/>
          <p:cNvSpPr/>
          <p:nvPr/>
        </p:nvSpPr>
        <p:spPr>
          <a:xfrm>
            <a:off x="8349258" y="5384354"/>
            <a:ext cx="578908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F6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$40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5816534" y="5620825"/>
            <a:ext cx="47059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8A81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Opened</a:t>
            </a:r>
            <a:endParaRPr lang="en-US" sz="863" dirty="0"/>
          </a:p>
        </p:txBody>
      </p:sp>
      <p:sp>
        <p:nvSpPr>
          <p:cNvPr id="31" name="Text 29"/>
          <p:cNvSpPr/>
          <p:nvPr/>
        </p:nvSpPr>
        <p:spPr>
          <a:xfrm>
            <a:off x="8654769" y="5620825"/>
            <a:ext cx="27339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8A81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$40</a:t>
            </a:r>
            <a:endParaRPr lang="en-US" sz="863" dirty="0"/>
          </a:p>
        </p:txBody>
      </p:sp>
      <p:sp>
        <p:nvSpPr>
          <p:cNvPr id="32" name="Text 30"/>
          <p:cNvSpPr/>
          <p:nvPr/>
        </p:nvSpPr>
        <p:spPr>
          <a:xfrm>
            <a:off x="5816534" y="5792226"/>
            <a:ext cx="93063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8A81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Missed chores</a:t>
            </a:r>
            <a:endParaRPr lang="en-US" sz="863" dirty="0"/>
          </a:p>
        </p:txBody>
      </p:sp>
      <p:sp>
        <p:nvSpPr>
          <p:cNvPr id="33" name="Text 31"/>
          <p:cNvSpPr/>
          <p:nvPr/>
        </p:nvSpPr>
        <p:spPr>
          <a:xfrm>
            <a:off x="8589037" y="5792226"/>
            <a:ext cx="33913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CF7B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−$28</a:t>
            </a:r>
            <a:endParaRPr lang="en-US" sz="863" dirty="0"/>
          </a:p>
        </p:txBody>
      </p:sp>
      <p:sp>
        <p:nvSpPr>
          <p:cNvPr id="34" name="Text 32"/>
          <p:cNvSpPr/>
          <p:nvPr/>
        </p:nvSpPr>
        <p:spPr>
          <a:xfrm>
            <a:off x="5816534" y="5963626"/>
            <a:ext cx="173515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8A81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Behavior · "left a mess"</a:t>
            </a:r>
            <a:endParaRPr lang="en-US" sz="863" dirty="0"/>
          </a:p>
        </p:txBody>
      </p:sp>
      <p:sp>
        <p:nvSpPr>
          <p:cNvPr id="35" name="Text 33"/>
          <p:cNvSpPr/>
          <p:nvPr/>
        </p:nvSpPr>
        <p:spPr>
          <a:xfrm>
            <a:off x="8589037" y="5963626"/>
            <a:ext cx="33913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CF7B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−$18</a:t>
            </a:r>
            <a:endParaRPr lang="en-US" sz="863" dirty="0"/>
          </a:p>
        </p:txBody>
      </p:sp>
      <p:sp>
        <p:nvSpPr>
          <p:cNvPr id="36" name="Shape 34"/>
          <p:cNvSpPr/>
          <p:nvPr/>
        </p:nvSpPr>
        <p:spPr>
          <a:xfrm>
            <a:off x="5816534" y="6192160"/>
            <a:ext cx="3035432" cy="9525"/>
          </a:xfrm>
          <a:prstGeom prst="rect">
            <a:avLst/>
          </a:prstGeom>
          <a:solidFill>
            <a:srgbClr val="ECE4D6">
              <a:alpha val="2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5816534" y="6351406"/>
            <a:ext cx="390393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F6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endParaRPr lang="en-US" sz="825" dirty="0"/>
          </a:p>
        </p:txBody>
      </p:sp>
      <p:sp>
        <p:nvSpPr>
          <p:cNvPr id="38" name="Text 36"/>
          <p:cNvSpPr/>
          <p:nvPr/>
        </p:nvSpPr>
        <p:spPr>
          <a:xfrm>
            <a:off x="8303204" y="6283110"/>
            <a:ext cx="624962" cy="3123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CF7B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−$6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5816534" y="6643026"/>
            <a:ext cx="3126495" cy="3448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CF7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→ $6 rolls over. Next week opens at </a:t>
            </a:r>
            <a:pPr algn="l" indent="0" marL="0">
              <a:lnSpc>
                <a:spcPct val="140000"/>
              </a:lnSpc>
              <a:buNone/>
            </a:pPr>
            <a:r>
              <a:rPr lang="en-US" sz="863" b="1" dirty="0">
                <a:solidFill>
                  <a:srgbClr val="ECE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 </a:t>
            </a:r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CF7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$40.</a:t>
            </a:r>
            <a:endParaRPr lang="en-US" sz="863" dirty="0"/>
          </a:p>
        </p:txBody>
      </p:sp>
      <p:sp>
        <p:nvSpPr>
          <p:cNvPr id="40" name="Shape 38"/>
          <p:cNvSpPr/>
          <p:nvPr/>
        </p:nvSpPr>
        <p:spPr>
          <a:xfrm>
            <a:off x="5677959" y="8436157"/>
            <a:ext cx="3312584" cy="430609"/>
          </a:xfrm>
          <a:prstGeom prst="roundRect">
            <a:avLst>
              <a:gd name="adj" fmla="val 26544"/>
            </a:avLst>
          </a:prstGeom>
          <a:solidFill>
            <a:srgbClr val="D8A657"/>
          </a:solidFill>
          <a:ln/>
        </p:spPr>
      </p:sp>
      <p:sp>
        <p:nvSpPr>
          <p:cNvPr id="41" name="Text 39"/>
          <p:cNvSpPr/>
          <p:nvPr/>
        </p:nvSpPr>
        <p:spPr>
          <a:xfrm>
            <a:off x="5761620" y="8569507"/>
            <a:ext cx="3145261" cy="202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1A16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numbers</a:t>
            </a:r>
            <a:endParaRPr lang="en-US" sz="1125" dirty="0"/>
          </a:p>
        </p:txBody>
      </p:sp>
      <p:sp>
        <p:nvSpPr>
          <p:cNvPr id="42" name="Shape 40"/>
          <p:cNvSpPr/>
          <p:nvPr/>
        </p:nvSpPr>
        <p:spPr>
          <a:xfrm>
            <a:off x="5677959" y="8962017"/>
            <a:ext cx="1603375" cy="397867"/>
          </a:xfrm>
          <a:prstGeom prst="roundRect">
            <a:avLst>
              <a:gd name="adj" fmla="val 28728"/>
            </a:avLst>
          </a:prstGeom>
          <a:ln w="5292">
            <a:solidFill>
              <a:srgbClr val="ECE4D6">
                <a:alpha val="40000"/>
              </a:srgbClr>
            </a:solidFill>
            <a:prstDash val="dash"/>
          </a:ln>
        </p:spPr>
      </p:sp>
      <p:sp>
        <p:nvSpPr>
          <p:cNvPr id="43" name="Text 41"/>
          <p:cNvSpPr/>
          <p:nvPr/>
        </p:nvSpPr>
        <p:spPr>
          <a:xfrm>
            <a:off x="5759450" y="9081609"/>
            <a:ext cx="1440392" cy="1967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8A8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Replay</a:t>
            </a:r>
            <a:endParaRPr lang="en-US" sz="975" dirty="0"/>
          </a:p>
        </p:txBody>
      </p:sp>
      <p:sp>
        <p:nvSpPr>
          <p:cNvPr id="44" name="Shape 42"/>
          <p:cNvSpPr/>
          <p:nvPr/>
        </p:nvSpPr>
        <p:spPr>
          <a:xfrm>
            <a:off x="7376583" y="8964663"/>
            <a:ext cx="1613958" cy="392576"/>
          </a:xfrm>
          <a:prstGeom prst="roundRect">
            <a:avLst>
              <a:gd name="adj" fmla="val 29115"/>
            </a:avLst>
          </a:prstGeom>
          <a:ln w="10583">
            <a:solidFill>
              <a:srgbClr val="D8A657">
                <a:alpha val="55000"/>
              </a:srgbClr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7463367" y="9089546"/>
            <a:ext cx="1440392" cy="1809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D8A6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out &amp; reset →</a:t>
            </a:r>
            <a:endParaRPr lang="en-US" sz="975" dirty="0"/>
          </a:p>
        </p:txBody>
      </p:sp>
      <p:sp>
        <p:nvSpPr>
          <p:cNvPr id="46" name="Text 44"/>
          <p:cNvSpPr/>
          <p:nvPr/>
        </p:nvSpPr>
        <p:spPr>
          <a:xfrm>
            <a:off x="9953625" y="3634548"/>
            <a:ext cx="2943225" cy="25642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550" dirty="0">
                <a:solidFill>
                  <a:srgbClr val="D8A6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← watch the totals count up. Theo crosses zero into red — that's the debt that rolls to $34.</a:t>
            </a:r>
            <a:endParaRPr lang="en-US" sz="2550" dirty="0"/>
          </a:p>
        </p:txBody>
      </p:sp>
      <p:sp>
        <p:nvSpPr>
          <p:cNvPr id="47" name="Text 45"/>
          <p:cNvSpPr/>
          <p:nvPr/>
        </p:nvSpPr>
        <p:spPr>
          <a:xfrm>
            <a:off x="9953625" y="6332058"/>
            <a:ext cx="2943225" cy="10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8A81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"any debt carries into next week" — the rule made visible.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51867"/>
            <a:ext cx="327637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D8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203937" y="514284"/>
            <a:ext cx="3190726" cy="472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CE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 · Settings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295097" y="678326"/>
            <a:ext cx="8276134" cy="281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A8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 weeks as a ledger you can scan, and the setup that powers the daily tracker.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871806" y="1426683"/>
            <a:ext cx="340700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dirty="0">
                <a:solidFill>
                  <a:srgbClr val="D8A6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History · paid vs. carried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4871806" y="1845717"/>
            <a:ext cx="3714750" cy="7734267"/>
          </a:xfrm>
          <a:prstGeom prst="roundRect">
            <a:avLst>
              <a:gd name="adj" fmla="val 7692"/>
            </a:avLst>
          </a:prstGeom>
          <a:solidFill>
            <a:srgbClr val="1C1813"/>
          </a:solidFill>
          <a:ln w="10583">
            <a:solidFill>
              <a:srgbClr val="ECE4D6">
                <a:alpha val="28000"/>
              </a:srgbClr>
            </a:solidFill>
            <a:prstDash val="dash"/>
          </a:ln>
          <a:effectLst>
            <a:outerShdw sx="100000" sy="100000" kx="0" ky="0" algn="bl" rotWithShape="0" blurRad="419100" dist="133350" dir="5400000">
              <a:srgbClr val="000000">
                <a:alpha val="5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10924" y="1949400"/>
            <a:ext cx="327554" cy="1756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F6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9:41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7969747" y="1949400"/>
            <a:ext cx="453893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F6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▮▮▮ 5G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5072890" y="2389601"/>
            <a:ext cx="3643842" cy="2656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ECE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</a:t>
            </a:r>
            <a:endParaRPr lang="en-US" sz="1575" dirty="0"/>
          </a:p>
        </p:txBody>
      </p:sp>
      <p:sp>
        <p:nvSpPr>
          <p:cNvPr id="10" name="Shape 8"/>
          <p:cNvSpPr/>
          <p:nvPr/>
        </p:nvSpPr>
        <p:spPr>
          <a:xfrm>
            <a:off x="5072890" y="2750427"/>
            <a:ext cx="3312584" cy="959776"/>
          </a:xfrm>
          <a:prstGeom prst="roundRect">
            <a:avLst>
              <a:gd name="adj" fmla="val 13894"/>
            </a:avLst>
          </a:prstGeom>
          <a:ln w="5292">
            <a:solidFill>
              <a:srgbClr val="ECE4D6">
                <a:alpha val="22000"/>
              </a:srgbClr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5211465" y="2889002"/>
            <a:ext cx="819183" cy="202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ECE4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Jun 9 – 15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7675398" y="2910169"/>
            <a:ext cx="647700" cy="15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F6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closed Sun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211465" y="3148294"/>
            <a:ext cx="400067" cy="202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A8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Maya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7652495" y="3148294"/>
            <a:ext cx="670603" cy="202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7FAA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paid $52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5211465" y="3407585"/>
            <a:ext cx="374766" cy="202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A8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6537854" y="3407585"/>
            <a:ext cx="1879947" cy="202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CF7B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rolled −$8 → opened $32</a:t>
            </a:r>
            <a:endParaRPr lang="en-US" sz="975" dirty="0"/>
          </a:p>
        </p:txBody>
      </p:sp>
      <p:sp>
        <p:nvSpPr>
          <p:cNvPr id="17" name="Shape 15"/>
          <p:cNvSpPr/>
          <p:nvPr/>
        </p:nvSpPr>
        <p:spPr>
          <a:xfrm>
            <a:off x="5072890" y="3843487"/>
            <a:ext cx="3312584" cy="959776"/>
          </a:xfrm>
          <a:prstGeom prst="roundRect">
            <a:avLst>
              <a:gd name="adj" fmla="val 13894"/>
            </a:avLst>
          </a:prstGeom>
          <a:ln w="5292">
            <a:solidFill>
              <a:srgbClr val="ECE4D6">
                <a:alpha val="22000"/>
              </a:srgbClr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5211465" y="3982062"/>
            <a:ext cx="744934" cy="202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ECE4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Jun 2 – 8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7675398" y="4003229"/>
            <a:ext cx="647700" cy="15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F6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closed Sun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211465" y="4241354"/>
            <a:ext cx="400067" cy="202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A8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Maya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7652495" y="4241354"/>
            <a:ext cx="670603" cy="202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7FAA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paid $44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5211465" y="4500645"/>
            <a:ext cx="374766" cy="202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A8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7652495" y="4500645"/>
            <a:ext cx="670603" cy="202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7FAA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paid $40</a:t>
            </a:r>
            <a:endParaRPr lang="en-US" sz="975" dirty="0"/>
          </a:p>
        </p:txBody>
      </p:sp>
      <p:sp>
        <p:nvSpPr>
          <p:cNvPr id="24" name="Shape 22"/>
          <p:cNvSpPr/>
          <p:nvPr/>
        </p:nvSpPr>
        <p:spPr>
          <a:xfrm>
            <a:off x="5072890" y="4936546"/>
            <a:ext cx="3312584" cy="959776"/>
          </a:xfrm>
          <a:prstGeom prst="roundRect">
            <a:avLst>
              <a:gd name="adj" fmla="val 13894"/>
            </a:avLst>
          </a:prstGeom>
          <a:ln w="5292">
            <a:solidFill>
              <a:srgbClr val="ECE4D6">
                <a:alpha val="22000"/>
              </a:srgbClr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211465" y="5075122"/>
            <a:ext cx="1116343" cy="202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ECE4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May 26 – Jun 1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7675398" y="5096289"/>
            <a:ext cx="647700" cy="15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F6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closed Sun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211465" y="5334414"/>
            <a:ext cx="400067" cy="202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A8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Maya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7652495" y="5334414"/>
            <a:ext cx="670603" cy="202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7FAA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paid $48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5211465" y="5593705"/>
            <a:ext cx="374766" cy="202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A8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</a:t>
            </a:r>
            <a:endParaRPr lang="en-US" sz="975" dirty="0"/>
          </a:p>
        </p:txBody>
      </p:sp>
      <p:sp>
        <p:nvSpPr>
          <p:cNvPr id="30" name="Text 28"/>
          <p:cNvSpPr/>
          <p:nvPr/>
        </p:nvSpPr>
        <p:spPr>
          <a:xfrm>
            <a:off x="6537854" y="5593705"/>
            <a:ext cx="1879947" cy="202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CF7B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rolled −$4 → opened $36</a:t>
            </a:r>
            <a:endParaRPr lang="en-US" sz="975" dirty="0"/>
          </a:p>
        </p:txBody>
      </p:sp>
      <p:sp>
        <p:nvSpPr>
          <p:cNvPr id="31" name="Text 29"/>
          <p:cNvSpPr/>
          <p:nvPr/>
        </p:nvSpPr>
        <p:spPr>
          <a:xfrm>
            <a:off x="4907261" y="6048623"/>
            <a:ext cx="3643842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6F6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earlier weeks —</a:t>
            </a:r>
            <a:endParaRPr lang="en-US" sz="825" dirty="0"/>
          </a:p>
        </p:txBody>
      </p:sp>
      <p:sp>
        <p:nvSpPr>
          <p:cNvPr id="32" name="Shape 30"/>
          <p:cNvSpPr/>
          <p:nvPr/>
        </p:nvSpPr>
        <p:spPr>
          <a:xfrm>
            <a:off x="4882390" y="8978884"/>
            <a:ext cx="3693584" cy="9525"/>
          </a:xfrm>
          <a:prstGeom prst="rect">
            <a:avLst/>
          </a:prstGeom>
          <a:solidFill>
            <a:srgbClr val="ECE4D6">
              <a:alpha val="16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175829" y="9123330"/>
            <a:ext cx="152383" cy="152383"/>
          </a:xfrm>
          <a:prstGeom prst="roundRect">
            <a:avLst>
              <a:gd name="adj" fmla="val 31253"/>
            </a:avLst>
          </a:prstGeom>
          <a:ln w="10583">
            <a:solidFill>
              <a:srgbClr val="6F675B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5128700" y="9313747"/>
            <a:ext cx="322841" cy="154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6F6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en-US" sz="713" dirty="0"/>
          </a:p>
        </p:txBody>
      </p:sp>
      <p:sp>
        <p:nvSpPr>
          <p:cNvPr id="35" name="Shape 33"/>
          <p:cNvSpPr/>
          <p:nvPr/>
        </p:nvSpPr>
        <p:spPr>
          <a:xfrm>
            <a:off x="5897811" y="9123330"/>
            <a:ext cx="152383" cy="152383"/>
          </a:xfrm>
          <a:prstGeom prst="roundRect">
            <a:avLst>
              <a:gd name="adj" fmla="val 31253"/>
            </a:avLst>
          </a:prstGeom>
          <a:ln w="10583">
            <a:solidFill>
              <a:srgbClr val="6F675B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5868128" y="9313747"/>
            <a:ext cx="288032" cy="154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6F6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</a:t>
            </a:r>
            <a:endParaRPr lang="en-US" sz="713" dirty="0"/>
          </a:p>
        </p:txBody>
      </p:sp>
      <p:sp>
        <p:nvSpPr>
          <p:cNvPr id="37" name="Shape 35"/>
          <p:cNvSpPr/>
          <p:nvPr/>
        </p:nvSpPr>
        <p:spPr>
          <a:xfrm>
            <a:off x="6615245" y="9123330"/>
            <a:ext cx="152383" cy="152383"/>
          </a:xfrm>
          <a:prstGeom prst="roundRect">
            <a:avLst>
              <a:gd name="adj" fmla="val 31253"/>
            </a:avLst>
          </a:prstGeom>
          <a:ln w="10583">
            <a:solidFill>
              <a:srgbClr val="6F675B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6572746" y="9313747"/>
            <a:ext cx="313581" cy="154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6F6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</a:t>
            </a:r>
            <a:endParaRPr lang="en-US" sz="713" dirty="0"/>
          </a:p>
        </p:txBody>
      </p:sp>
      <p:sp>
        <p:nvSpPr>
          <p:cNvPr id="39" name="Shape 37"/>
          <p:cNvSpPr/>
          <p:nvPr/>
        </p:nvSpPr>
        <p:spPr>
          <a:xfrm>
            <a:off x="7383446" y="9123330"/>
            <a:ext cx="152383" cy="152383"/>
          </a:xfrm>
          <a:prstGeom prst="roundRect">
            <a:avLst>
              <a:gd name="adj" fmla="val 31253"/>
            </a:avLst>
          </a:prstGeom>
          <a:ln w="10583">
            <a:solidFill>
              <a:srgbClr val="D8A65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02831" y="9313747"/>
            <a:ext cx="389814" cy="154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D8A6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</a:t>
            </a:r>
            <a:endParaRPr lang="en-US" sz="713" dirty="0"/>
          </a:p>
        </p:txBody>
      </p:sp>
      <p:sp>
        <p:nvSpPr>
          <p:cNvPr id="41" name="Shape 39"/>
          <p:cNvSpPr/>
          <p:nvPr/>
        </p:nvSpPr>
        <p:spPr>
          <a:xfrm>
            <a:off x="8143131" y="9123330"/>
            <a:ext cx="152383" cy="152383"/>
          </a:xfrm>
          <a:prstGeom prst="roundRect">
            <a:avLst>
              <a:gd name="adj" fmla="val 31253"/>
            </a:avLst>
          </a:prstGeom>
          <a:ln w="10583">
            <a:solidFill>
              <a:srgbClr val="6F675B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8109232" y="9313747"/>
            <a:ext cx="296466" cy="154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6F6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</a:t>
            </a:r>
            <a:endParaRPr lang="en-US" sz="713" dirty="0"/>
          </a:p>
        </p:txBody>
      </p:sp>
      <p:sp>
        <p:nvSpPr>
          <p:cNvPr id="43" name="Text 41"/>
          <p:cNvSpPr/>
          <p:nvPr/>
        </p:nvSpPr>
        <p:spPr>
          <a:xfrm>
            <a:off x="9443807" y="1426683"/>
            <a:ext cx="436962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dirty="0">
                <a:solidFill>
                  <a:srgbClr val="D8A6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Settings · kids · chores · sharing</a:t>
            </a:r>
            <a:endParaRPr lang="en-US" sz="2250" dirty="0"/>
          </a:p>
        </p:txBody>
      </p:sp>
      <p:sp>
        <p:nvSpPr>
          <p:cNvPr id="44" name="Shape 42"/>
          <p:cNvSpPr/>
          <p:nvPr/>
        </p:nvSpPr>
        <p:spPr>
          <a:xfrm>
            <a:off x="9443807" y="1845717"/>
            <a:ext cx="3714750" cy="7734267"/>
          </a:xfrm>
          <a:prstGeom prst="roundRect">
            <a:avLst>
              <a:gd name="adj" fmla="val 7692"/>
            </a:avLst>
          </a:prstGeom>
          <a:solidFill>
            <a:srgbClr val="1C1813"/>
          </a:solidFill>
          <a:ln w="10583">
            <a:solidFill>
              <a:srgbClr val="ECE4D6">
                <a:alpha val="28000"/>
              </a:srgbClr>
            </a:solidFill>
            <a:prstDash val="dash"/>
          </a:ln>
          <a:effectLst>
            <a:outerShdw sx="100000" sy="100000" kx="0" ky="0" algn="bl" rotWithShape="0" blurRad="419100" dist="133350" dir="5400000">
              <a:srgbClr val="000000">
                <a:alpha val="5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9682924" y="1949400"/>
            <a:ext cx="327554" cy="1756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F6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9:41</a:t>
            </a:r>
            <a:endParaRPr lang="en-US" sz="825" dirty="0"/>
          </a:p>
        </p:txBody>
      </p:sp>
      <p:sp>
        <p:nvSpPr>
          <p:cNvPr id="46" name="Text 44"/>
          <p:cNvSpPr/>
          <p:nvPr/>
        </p:nvSpPr>
        <p:spPr>
          <a:xfrm>
            <a:off x="12541747" y="1949400"/>
            <a:ext cx="453893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F6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▮▮▮ 5G</a:t>
            </a:r>
            <a:endParaRPr lang="en-US" sz="825" dirty="0"/>
          </a:p>
        </p:txBody>
      </p:sp>
      <p:sp>
        <p:nvSpPr>
          <p:cNvPr id="47" name="Text 45"/>
          <p:cNvSpPr/>
          <p:nvPr/>
        </p:nvSpPr>
        <p:spPr>
          <a:xfrm>
            <a:off x="9644890" y="2389601"/>
            <a:ext cx="3643842" cy="2656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ECE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</a:t>
            </a:r>
            <a:endParaRPr lang="en-US" sz="1575" dirty="0"/>
          </a:p>
        </p:txBody>
      </p:sp>
      <p:sp>
        <p:nvSpPr>
          <p:cNvPr id="48" name="Text 46"/>
          <p:cNvSpPr/>
          <p:nvPr/>
        </p:nvSpPr>
        <p:spPr>
          <a:xfrm>
            <a:off x="9644890" y="2769526"/>
            <a:ext cx="3643842" cy="15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13" kern="0" dirty="0">
                <a:solidFill>
                  <a:srgbClr val="6F6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KIDS &amp; ALLOWANCE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9644890" y="3043618"/>
            <a:ext cx="3312584" cy="389434"/>
          </a:xfrm>
          <a:prstGeom prst="roundRect">
            <a:avLst>
              <a:gd name="adj" fmla="val 26904"/>
            </a:avLst>
          </a:prstGeom>
          <a:ln w="5292">
            <a:solidFill>
              <a:srgbClr val="ECE4D6">
                <a:alpha val="20000"/>
              </a:srgbClr>
            </a:solidFill>
            <a:prstDash val="dash"/>
          </a:ln>
        </p:spPr>
      </p:sp>
      <p:sp>
        <p:nvSpPr>
          <p:cNvPr id="50" name="Text 48"/>
          <p:cNvSpPr/>
          <p:nvPr/>
        </p:nvSpPr>
        <p:spPr>
          <a:xfrm>
            <a:off x="9773957" y="3153668"/>
            <a:ext cx="424954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CE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Maya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11565268" y="3156314"/>
            <a:ext cx="1389451" cy="202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A81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</a:t>
            </a:r>
            <a:pPr algn="l" indent="0" marL="0">
              <a:buNone/>
            </a:pPr>
            <a:r>
              <a:rPr lang="en-US" sz="975" dirty="0">
                <a:solidFill>
                  <a:srgbClr val="ECE4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$40 </a:t>
            </a:r>
            <a:pPr algn="l" indent="0" marL="0">
              <a:buNone/>
            </a:pPr>
            <a:r>
              <a:rPr lang="en-US" sz="975" dirty="0">
                <a:solidFill>
                  <a:srgbClr val="8A81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edit ›</a:t>
            </a:r>
            <a:endParaRPr lang="en-US" sz="975" dirty="0"/>
          </a:p>
        </p:txBody>
      </p:sp>
      <p:sp>
        <p:nvSpPr>
          <p:cNvPr id="52" name="Shape 50"/>
          <p:cNvSpPr/>
          <p:nvPr/>
        </p:nvSpPr>
        <p:spPr>
          <a:xfrm>
            <a:off x="9644890" y="3509202"/>
            <a:ext cx="3312584" cy="389434"/>
          </a:xfrm>
          <a:prstGeom prst="roundRect">
            <a:avLst>
              <a:gd name="adj" fmla="val 26904"/>
            </a:avLst>
          </a:prstGeom>
          <a:ln w="5292">
            <a:solidFill>
              <a:srgbClr val="ECE4D6">
                <a:alpha val="20000"/>
              </a:srgbClr>
            </a:solidFill>
            <a:prstDash val="dash"/>
          </a:ln>
        </p:spPr>
      </p:sp>
      <p:sp>
        <p:nvSpPr>
          <p:cNvPr id="53" name="Text 51"/>
          <p:cNvSpPr/>
          <p:nvPr/>
        </p:nvSpPr>
        <p:spPr>
          <a:xfrm>
            <a:off x="9773957" y="3619252"/>
            <a:ext cx="397751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CE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11565268" y="3621898"/>
            <a:ext cx="1389451" cy="202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A81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</a:t>
            </a:r>
            <a:pPr algn="l" indent="0" marL="0">
              <a:buNone/>
            </a:pPr>
            <a:r>
              <a:rPr lang="en-US" sz="975" dirty="0">
                <a:solidFill>
                  <a:srgbClr val="ECE4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$40 </a:t>
            </a:r>
            <a:pPr algn="l" indent="0" marL="0">
              <a:buNone/>
            </a:pPr>
            <a:r>
              <a:rPr lang="en-US" sz="975" dirty="0">
                <a:solidFill>
                  <a:srgbClr val="8A81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edit ›</a:t>
            </a:r>
            <a:endParaRPr lang="en-US" sz="975" dirty="0"/>
          </a:p>
        </p:txBody>
      </p:sp>
      <p:sp>
        <p:nvSpPr>
          <p:cNvPr id="55" name="Shape 53"/>
          <p:cNvSpPr/>
          <p:nvPr/>
        </p:nvSpPr>
        <p:spPr>
          <a:xfrm>
            <a:off x="9644890" y="3974786"/>
            <a:ext cx="3312584" cy="359833"/>
          </a:xfrm>
          <a:prstGeom prst="roundRect">
            <a:avLst>
              <a:gd name="adj" fmla="val 29118"/>
            </a:avLst>
          </a:prstGeom>
          <a:ln w="5292">
            <a:solidFill>
              <a:srgbClr val="ECE4D6">
                <a:alpha val="30000"/>
              </a:srgbClr>
            </a:solidFill>
            <a:prstDash val="dash"/>
          </a:ln>
        </p:spPr>
      </p:sp>
      <p:sp>
        <p:nvSpPr>
          <p:cNvPr id="56" name="Text 54"/>
          <p:cNvSpPr/>
          <p:nvPr/>
        </p:nvSpPr>
        <p:spPr>
          <a:xfrm>
            <a:off x="9695743" y="4075328"/>
            <a:ext cx="3210878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8A8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Add kid</a:t>
            </a:r>
            <a:endParaRPr lang="en-US" sz="975" dirty="0"/>
          </a:p>
        </p:txBody>
      </p:sp>
      <p:sp>
        <p:nvSpPr>
          <p:cNvPr id="57" name="Text 55"/>
          <p:cNvSpPr/>
          <p:nvPr/>
        </p:nvSpPr>
        <p:spPr>
          <a:xfrm>
            <a:off x="9644890" y="4487003"/>
            <a:ext cx="3643842" cy="15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13" kern="0" dirty="0">
                <a:solidFill>
                  <a:srgbClr val="6F6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REGULAR CHORES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9644890" y="4761095"/>
            <a:ext cx="647700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ECE4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bed</a:t>
            </a:r>
            <a:endParaRPr lang="en-US" sz="938" dirty="0"/>
          </a:p>
        </p:txBody>
      </p:sp>
      <p:sp>
        <p:nvSpPr>
          <p:cNvPr id="59" name="Text 57"/>
          <p:cNvSpPr/>
          <p:nvPr/>
        </p:nvSpPr>
        <p:spPr>
          <a:xfrm>
            <a:off x="12743161" y="4761095"/>
            <a:ext cx="290513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7FAA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+$2</a:t>
            </a:r>
            <a:endParaRPr lang="en-US" sz="938" dirty="0"/>
          </a:p>
        </p:txBody>
      </p:sp>
      <p:sp>
        <p:nvSpPr>
          <p:cNvPr id="60" name="Text 58"/>
          <p:cNvSpPr/>
          <p:nvPr/>
        </p:nvSpPr>
        <p:spPr>
          <a:xfrm>
            <a:off x="9644890" y="4976978"/>
            <a:ext cx="1493044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ECE4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Dishes after dinner</a:t>
            </a:r>
            <a:endParaRPr lang="en-US" sz="938" dirty="0"/>
          </a:p>
        </p:txBody>
      </p:sp>
      <p:sp>
        <p:nvSpPr>
          <p:cNvPr id="61" name="Text 59"/>
          <p:cNvSpPr/>
          <p:nvPr/>
        </p:nvSpPr>
        <p:spPr>
          <a:xfrm>
            <a:off x="12743161" y="4976978"/>
            <a:ext cx="290513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7FAA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+$3</a:t>
            </a:r>
            <a:endParaRPr lang="en-US" sz="938" dirty="0"/>
          </a:p>
        </p:txBody>
      </p:sp>
      <p:sp>
        <p:nvSpPr>
          <p:cNvPr id="62" name="Text 60"/>
          <p:cNvSpPr/>
          <p:nvPr/>
        </p:nvSpPr>
        <p:spPr>
          <a:xfrm>
            <a:off x="9644890" y="5192862"/>
            <a:ext cx="647700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ECE4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Homework</a:t>
            </a:r>
            <a:endParaRPr lang="en-US" sz="938" dirty="0"/>
          </a:p>
        </p:txBody>
      </p:sp>
      <p:sp>
        <p:nvSpPr>
          <p:cNvPr id="63" name="Text 61"/>
          <p:cNvSpPr/>
          <p:nvPr/>
        </p:nvSpPr>
        <p:spPr>
          <a:xfrm>
            <a:off x="12743161" y="5192862"/>
            <a:ext cx="290513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7FAA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+$4</a:t>
            </a:r>
            <a:endParaRPr lang="en-US" sz="938" dirty="0"/>
          </a:p>
        </p:txBody>
      </p:sp>
      <p:sp>
        <p:nvSpPr>
          <p:cNvPr id="64" name="Text 62"/>
          <p:cNvSpPr/>
          <p:nvPr/>
        </p:nvSpPr>
        <p:spPr>
          <a:xfrm>
            <a:off x="9644890" y="5408745"/>
            <a:ext cx="647700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ECE4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Walk dog</a:t>
            </a:r>
            <a:endParaRPr lang="en-US" sz="938" dirty="0"/>
          </a:p>
        </p:txBody>
      </p:sp>
      <p:sp>
        <p:nvSpPr>
          <p:cNvPr id="65" name="Text 63"/>
          <p:cNvSpPr/>
          <p:nvPr/>
        </p:nvSpPr>
        <p:spPr>
          <a:xfrm>
            <a:off x="12743161" y="5408745"/>
            <a:ext cx="290513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7FAA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+$3</a:t>
            </a:r>
            <a:endParaRPr lang="en-US" sz="938" dirty="0"/>
          </a:p>
        </p:txBody>
      </p:sp>
      <p:sp>
        <p:nvSpPr>
          <p:cNvPr id="66" name="Text 64"/>
          <p:cNvSpPr/>
          <p:nvPr/>
        </p:nvSpPr>
        <p:spPr>
          <a:xfrm>
            <a:off x="9644890" y="5624629"/>
            <a:ext cx="719138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ECE4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Tidy room</a:t>
            </a:r>
            <a:endParaRPr lang="en-US" sz="938" dirty="0"/>
          </a:p>
        </p:txBody>
      </p:sp>
      <p:sp>
        <p:nvSpPr>
          <p:cNvPr id="67" name="Text 65"/>
          <p:cNvSpPr/>
          <p:nvPr/>
        </p:nvSpPr>
        <p:spPr>
          <a:xfrm>
            <a:off x="12743161" y="5624629"/>
            <a:ext cx="290513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7FAA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+$2</a:t>
            </a:r>
            <a:endParaRPr lang="en-US" sz="938" dirty="0"/>
          </a:p>
        </p:txBody>
      </p:sp>
      <p:sp>
        <p:nvSpPr>
          <p:cNvPr id="68" name="Shape 66"/>
          <p:cNvSpPr/>
          <p:nvPr/>
        </p:nvSpPr>
        <p:spPr>
          <a:xfrm>
            <a:off x="9644890" y="5935762"/>
            <a:ext cx="1618175" cy="324776"/>
          </a:xfrm>
          <a:prstGeom prst="roundRect">
            <a:avLst>
              <a:gd name="adj" fmla="val 32261"/>
            </a:avLst>
          </a:prstGeom>
          <a:ln w="5292">
            <a:solidFill>
              <a:srgbClr val="ECE4D6">
                <a:alpha val="30000"/>
              </a:srgbClr>
            </a:solidFill>
            <a:prstDash val="dash"/>
          </a:ln>
        </p:spPr>
      </p:sp>
      <p:sp>
        <p:nvSpPr>
          <p:cNvPr id="69" name="Text 67"/>
          <p:cNvSpPr/>
          <p:nvPr/>
        </p:nvSpPr>
        <p:spPr>
          <a:xfrm>
            <a:off x="9697806" y="6026779"/>
            <a:ext cx="1512342" cy="180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8A8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Add chore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11339215" y="5935762"/>
            <a:ext cx="1618258" cy="324776"/>
          </a:xfrm>
          <a:prstGeom prst="roundRect">
            <a:avLst>
              <a:gd name="adj" fmla="val 32261"/>
            </a:avLst>
          </a:prstGeom>
          <a:ln w="5292">
            <a:solidFill>
              <a:srgbClr val="D8A657">
                <a:alpha val="45000"/>
              </a:srgbClr>
            </a:solidFill>
            <a:prstDash val="dash"/>
          </a:ln>
        </p:spPr>
      </p:sp>
      <p:sp>
        <p:nvSpPr>
          <p:cNvPr id="71" name="Text 69"/>
          <p:cNvSpPr/>
          <p:nvPr/>
        </p:nvSpPr>
        <p:spPr>
          <a:xfrm>
            <a:off x="11392132" y="6026779"/>
            <a:ext cx="1512425" cy="180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D8A6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a list ›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9644890" y="6412921"/>
            <a:ext cx="3643842" cy="15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13" kern="0" dirty="0">
                <a:solidFill>
                  <a:srgbClr val="6F6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SHARED WITH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9644890" y="6687013"/>
            <a:ext cx="3312584" cy="448717"/>
          </a:xfrm>
          <a:prstGeom prst="roundRect">
            <a:avLst>
              <a:gd name="adj" fmla="val 23350"/>
            </a:avLst>
          </a:prstGeom>
          <a:ln w="5292">
            <a:solidFill>
              <a:srgbClr val="ECE4D6">
                <a:alpha val="20000"/>
              </a:srgbClr>
            </a:solidFill>
            <a:prstDash val="dash"/>
          </a:ln>
        </p:spPr>
      </p:sp>
      <p:sp>
        <p:nvSpPr>
          <p:cNvPr id="74" name="Shape 72"/>
          <p:cNvSpPr/>
          <p:nvPr/>
        </p:nvSpPr>
        <p:spPr>
          <a:xfrm>
            <a:off x="9773957" y="6787555"/>
            <a:ext cx="247633" cy="247633"/>
          </a:xfrm>
          <a:prstGeom prst="ellipse">
            <a:avLst/>
          </a:prstGeom>
          <a:ln w="10583">
            <a:solidFill>
              <a:srgbClr val="ECE4D6">
                <a:alpha val="50000"/>
              </a:srgbClr>
            </a:solidFill>
            <a:prstDash val="dash"/>
          </a:ln>
        </p:spPr>
      </p:sp>
      <p:sp>
        <p:nvSpPr>
          <p:cNvPr id="75" name="Text 73"/>
          <p:cNvSpPr/>
          <p:nvPr/>
        </p:nvSpPr>
        <p:spPr>
          <a:xfrm>
            <a:off x="9746440" y="6798138"/>
            <a:ext cx="302667" cy="264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ECE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825" dirty="0"/>
          </a:p>
        </p:txBody>
      </p:sp>
      <p:sp>
        <p:nvSpPr>
          <p:cNvPr id="76" name="Text 74"/>
          <p:cNvSpPr/>
          <p:nvPr/>
        </p:nvSpPr>
        <p:spPr>
          <a:xfrm>
            <a:off x="10116841" y="6831956"/>
            <a:ext cx="2532335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ECE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· Marcus</a:t>
            </a:r>
            <a:endParaRPr lang="en-US" sz="975" dirty="0"/>
          </a:p>
        </p:txBody>
      </p:sp>
      <p:sp>
        <p:nvSpPr>
          <p:cNvPr id="77" name="Text 75"/>
          <p:cNvSpPr/>
          <p:nvPr/>
        </p:nvSpPr>
        <p:spPr>
          <a:xfrm>
            <a:off x="12514214" y="6842539"/>
            <a:ext cx="390393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F6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owner</a:t>
            </a:r>
            <a:endParaRPr lang="en-US" sz="825" dirty="0"/>
          </a:p>
        </p:txBody>
      </p:sp>
      <p:sp>
        <p:nvSpPr>
          <p:cNvPr id="78" name="Shape 76"/>
          <p:cNvSpPr/>
          <p:nvPr/>
        </p:nvSpPr>
        <p:spPr>
          <a:xfrm>
            <a:off x="9644890" y="7211881"/>
            <a:ext cx="3312584" cy="448717"/>
          </a:xfrm>
          <a:prstGeom prst="roundRect">
            <a:avLst>
              <a:gd name="adj" fmla="val 23350"/>
            </a:avLst>
          </a:prstGeom>
          <a:ln w="5292">
            <a:solidFill>
              <a:srgbClr val="ECE4D6">
                <a:alpha val="20000"/>
              </a:srgbClr>
            </a:solidFill>
            <a:prstDash val="dash"/>
          </a:ln>
        </p:spPr>
      </p:sp>
      <p:sp>
        <p:nvSpPr>
          <p:cNvPr id="79" name="Shape 77"/>
          <p:cNvSpPr/>
          <p:nvPr/>
        </p:nvSpPr>
        <p:spPr>
          <a:xfrm>
            <a:off x="9773957" y="7312422"/>
            <a:ext cx="247633" cy="247633"/>
          </a:xfrm>
          <a:prstGeom prst="ellipse">
            <a:avLst/>
          </a:prstGeom>
          <a:ln w="10583">
            <a:solidFill>
              <a:srgbClr val="D8A657">
                <a:alpha val="70000"/>
              </a:srgbClr>
            </a:solidFill>
            <a:prstDash val="dash"/>
          </a:ln>
        </p:spPr>
      </p:sp>
      <p:sp>
        <p:nvSpPr>
          <p:cNvPr id="80" name="Text 78"/>
          <p:cNvSpPr/>
          <p:nvPr/>
        </p:nvSpPr>
        <p:spPr>
          <a:xfrm>
            <a:off x="9746440" y="7323006"/>
            <a:ext cx="302667" cy="264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D8A6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825" dirty="0"/>
          </a:p>
        </p:txBody>
      </p:sp>
      <p:sp>
        <p:nvSpPr>
          <p:cNvPr id="81" name="Text 79"/>
          <p:cNvSpPr/>
          <p:nvPr/>
        </p:nvSpPr>
        <p:spPr>
          <a:xfrm>
            <a:off x="10116841" y="7356822"/>
            <a:ext cx="2324695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ECE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Dana</a:t>
            </a:r>
            <a:endParaRPr lang="en-US" sz="975" dirty="0"/>
          </a:p>
        </p:txBody>
      </p:sp>
      <p:sp>
        <p:nvSpPr>
          <p:cNvPr id="82" name="Text 80"/>
          <p:cNvSpPr/>
          <p:nvPr/>
        </p:nvSpPr>
        <p:spPr>
          <a:xfrm>
            <a:off x="12325450" y="7367406"/>
            <a:ext cx="579156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7FAA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joined ✓</a:t>
            </a:r>
            <a:endParaRPr lang="en-US" sz="825" dirty="0"/>
          </a:p>
        </p:txBody>
      </p:sp>
      <p:sp>
        <p:nvSpPr>
          <p:cNvPr id="83" name="Shape 81"/>
          <p:cNvSpPr/>
          <p:nvPr/>
        </p:nvSpPr>
        <p:spPr>
          <a:xfrm>
            <a:off x="9644890" y="7812981"/>
            <a:ext cx="3312584" cy="352392"/>
          </a:xfrm>
          <a:prstGeom prst="roundRect">
            <a:avLst>
              <a:gd name="adj" fmla="val 29733"/>
            </a:avLst>
          </a:prstGeom>
          <a:solidFill>
            <a:srgbClr val="D8A657"/>
          </a:solidFill>
          <a:ln/>
        </p:spPr>
      </p:sp>
      <p:sp>
        <p:nvSpPr>
          <p:cNvPr id="84" name="Text 82"/>
          <p:cNvSpPr/>
          <p:nvPr/>
        </p:nvSpPr>
        <p:spPr>
          <a:xfrm>
            <a:off x="9699976" y="7917756"/>
            <a:ext cx="3202411" cy="1809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1A16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Invite by email or link</a:t>
            </a:r>
            <a:endParaRPr lang="en-US" sz="975" dirty="0"/>
          </a:p>
        </p:txBody>
      </p:sp>
      <p:sp>
        <p:nvSpPr>
          <p:cNvPr id="85" name="Shape 83"/>
          <p:cNvSpPr/>
          <p:nvPr/>
        </p:nvSpPr>
        <p:spPr>
          <a:xfrm>
            <a:off x="9454390" y="8978884"/>
            <a:ext cx="3693584" cy="9525"/>
          </a:xfrm>
          <a:prstGeom prst="rect">
            <a:avLst/>
          </a:prstGeom>
          <a:solidFill>
            <a:srgbClr val="ECE4D6">
              <a:alpha val="16000"/>
            </a:srgbClr>
          </a:solidFill>
          <a:ln/>
        </p:spPr>
      </p:sp>
      <p:sp>
        <p:nvSpPr>
          <p:cNvPr id="86" name="Shape 84"/>
          <p:cNvSpPr/>
          <p:nvPr/>
        </p:nvSpPr>
        <p:spPr>
          <a:xfrm>
            <a:off x="9747829" y="9123330"/>
            <a:ext cx="152383" cy="152383"/>
          </a:xfrm>
          <a:prstGeom prst="roundRect">
            <a:avLst>
              <a:gd name="adj" fmla="val 31253"/>
            </a:avLst>
          </a:prstGeom>
          <a:ln w="10583">
            <a:solidFill>
              <a:srgbClr val="6F675B"/>
            </a:solidFill>
            <a:prstDash val="dash"/>
          </a:ln>
        </p:spPr>
      </p:sp>
      <p:sp>
        <p:nvSpPr>
          <p:cNvPr id="87" name="Text 85"/>
          <p:cNvSpPr/>
          <p:nvPr/>
        </p:nvSpPr>
        <p:spPr>
          <a:xfrm>
            <a:off x="9700700" y="9313747"/>
            <a:ext cx="322841" cy="154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6F6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en-US" sz="713" dirty="0"/>
          </a:p>
        </p:txBody>
      </p:sp>
      <p:sp>
        <p:nvSpPr>
          <p:cNvPr id="88" name="Shape 86"/>
          <p:cNvSpPr/>
          <p:nvPr/>
        </p:nvSpPr>
        <p:spPr>
          <a:xfrm>
            <a:off x="10469811" y="9123330"/>
            <a:ext cx="152383" cy="152383"/>
          </a:xfrm>
          <a:prstGeom prst="roundRect">
            <a:avLst>
              <a:gd name="adj" fmla="val 31253"/>
            </a:avLst>
          </a:prstGeom>
          <a:ln w="10583">
            <a:solidFill>
              <a:srgbClr val="6F675B"/>
            </a:solidFill>
            <a:prstDash val="dash"/>
          </a:ln>
        </p:spPr>
      </p:sp>
      <p:sp>
        <p:nvSpPr>
          <p:cNvPr id="89" name="Text 87"/>
          <p:cNvSpPr/>
          <p:nvPr/>
        </p:nvSpPr>
        <p:spPr>
          <a:xfrm>
            <a:off x="10440128" y="9313747"/>
            <a:ext cx="288032" cy="154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6F6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</a:t>
            </a:r>
            <a:endParaRPr lang="en-US" sz="713" dirty="0"/>
          </a:p>
        </p:txBody>
      </p:sp>
      <p:sp>
        <p:nvSpPr>
          <p:cNvPr id="90" name="Shape 88"/>
          <p:cNvSpPr/>
          <p:nvPr/>
        </p:nvSpPr>
        <p:spPr>
          <a:xfrm>
            <a:off x="11187245" y="9123330"/>
            <a:ext cx="152383" cy="152383"/>
          </a:xfrm>
          <a:prstGeom prst="roundRect">
            <a:avLst>
              <a:gd name="adj" fmla="val 31253"/>
            </a:avLst>
          </a:prstGeom>
          <a:ln w="10583">
            <a:solidFill>
              <a:srgbClr val="6F675B"/>
            </a:solidFill>
            <a:prstDash val="dash"/>
          </a:ln>
        </p:spPr>
      </p:sp>
      <p:sp>
        <p:nvSpPr>
          <p:cNvPr id="91" name="Text 89"/>
          <p:cNvSpPr/>
          <p:nvPr/>
        </p:nvSpPr>
        <p:spPr>
          <a:xfrm>
            <a:off x="11144746" y="9313747"/>
            <a:ext cx="313581" cy="154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6F6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</a:t>
            </a:r>
            <a:endParaRPr lang="en-US" sz="713" dirty="0"/>
          </a:p>
        </p:txBody>
      </p:sp>
      <p:sp>
        <p:nvSpPr>
          <p:cNvPr id="92" name="Shape 90"/>
          <p:cNvSpPr/>
          <p:nvPr/>
        </p:nvSpPr>
        <p:spPr>
          <a:xfrm>
            <a:off x="11955447" y="9123330"/>
            <a:ext cx="152383" cy="152383"/>
          </a:xfrm>
          <a:prstGeom prst="roundRect">
            <a:avLst>
              <a:gd name="adj" fmla="val 31253"/>
            </a:avLst>
          </a:prstGeom>
          <a:ln w="10583">
            <a:solidFill>
              <a:srgbClr val="6F675B"/>
            </a:solidFill>
            <a:prstDash val="dash"/>
          </a:ln>
        </p:spPr>
      </p:sp>
      <p:sp>
        <p:nvSpPr>
          <p:cNvPr id="93" name="Text 91"/>
          <p:cNvSpPr/>
          <p:nvPr/>
        </p:nvSpPr>
        <p:spPr>
          <a:xfrm>
            <a:off x="11874831" y="9313747"/>
            <a:ext cx="389815" cy="154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6F6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</a:t>
            </a:r>
            <a:endParaRPr lang="en-US" sz="713" dirty="0"/>
          </a:p>
        </p:txBody>
      </p:sp>
      <p:sp>
        <p:nvSpPr>
          <p:cNvPr id="94" name="Shape 92"/>
          <p:cNvSpPr/>
          <p:nvPr/>
        </p:nvSpPr>
        <p:spPr>
          <a:xfrm>
            <a:off x="12715132" y="9123330"/>
            <a:ext cx="152383" cy="152383"/>
          </a:xfrm>
          <a:prstGeom prst="roundRect">
            <a:avLst>
              <a:gd name="adj" fmla="val 31253"/>
            </a:avLst>
          </a:prstGeom>
          <a:ln w="10583">
            <a:solidFill>
              <a:srgbClr val="D8A657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12681232" y="9313747"/>
            <a:ext cx="296466" cy="154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D8A6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</a:t>
            </a:r>
            <a:endParaRPr lang="en-US" sz="713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51867"/>
            <a:ext cx="327637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D8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203937" y="514284"/>
            <a:ext cx="3028652" cy="472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CE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 &amp; payout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47757" y="678326"/>
            <a:ext cx="9206194" cy="281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A8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positive week becomes real money — the kid chooses where it goes, a parent pays it out.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057591" y="1426683"/>
            <a:ext cx="198099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dirty="0">
                <a:solidFill>
                  <a:srgbClr val="D8A6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Maya's money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3057591" y="1845717"/>
            <a:ext cx="3714750" cy="7734267"/>
          </a:xfrm>
          <a:prstGeom prst="roundRect">
            <a:avLst>
              <a:gd name="adj" fmla="val 7692"/>
            </a:avLst>
          </a:prstGeom>
          <a:solidFill>
            <a:srgbClr val="1C1813"/>
          </a:solidFill>
          <a:ln w="10583">
            <a:solidFill>
              <a:srgbClr val="ECE4D6">
                <a:alpha val="28000"/>
              </a:srgbClr>
            </a:solidFill>
            <a:prstDash val="dash"/>
          </a:ln>
          <a:effectLst>
            <a:outerShdw sx="100000" sy="100000" kx="0" ky="0" algn="bl" rotWithShape="0" blurRad="419100" dist="133350" dir="5400000">
              <a:srgbClr val="000000">
                <a:alpha val="5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96708" y="1949400"/>
            <a:ext cx="327554" cy="1756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F6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9:41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6155532" y="1949400"/>
            <a:ext cx="453893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F6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▮▮▮ 5G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3258675" y="2389601"/>
            <a:ext cx="3643842" cy="15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50" kern="0" dirty="0">
                <a:solidFill>
                  <a:srgbClr val="6F6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‹ MAYA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258675" y="2530326"/>
            <a:ext cx="3643842" cy="2656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ECE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money</a:t>
            </a:r>
            <a:endParaRPr lang="en-US" sz="1575" dirty="0"/>
          </a:p>
        </p:txBody>
      </p:sp>
      <p:sp>
        <p:nvSpPr>
          <p:cNvPr id="11" name="Shape 9"/>
          <p:cNvSpPr/>
          <p:nvPr/>
        </p:nvSpPr>
        <p:spPr>
          <a:xfrm>
            <a:off x="3258675" y="2910251"/>
            <a:ext cx="1599158" cy="759685"/>
          </a:xfrm>
          <a:prstGeom prst="roundRect">
            <a:avLst>
              <a:gd name="adj" fmla="val 17553"/>
            </a:avLst>
          </a:prstGeom>
          <a:ln w="5292">
            <a:solidFill>
              <a:srgbClr val="ECE4D6">
                <a:alpha val="22000"/>
              </a:srgbClr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3397250" y="3048827"/>
            <a:ext cx="1454208" cy="15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75" kern="0" dirty="0">
                <a:solidFill>
                  <a:srgbClr val="6F6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SAVED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397250" y="3208569"/>
            <a:ext cx="1454208" cy="3608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D8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$124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4972100" y="2910251"/>
            <a:ext cx="1599158" cy="759685"/>
          </a:xfrm>
          <a:prstGeom prst="roundRect">
            <a:avLst>
              <a:gd name="adj" fmla="val 17553"/>
            </a:avLst>
          </a:prstGeom>
          <a:ln w="5292">
            <a:solidFill>
              <a:srgbClr val="ECE4D6">
                <a:alpha val="22000"/>
              </a:srgbClr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5110675" y="3048827"/>
            <a:ext cx="1454208" cy="15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75" kern="0" dirty="0">
                <a:solidFill>
                  <a:srgbClr val="6F6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 SPEND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110675" y="3208569"/>
            <a:ext cx="1454208" cy="3608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CE4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$36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3258675" y="3822320"/>
            <a:ext cx="3643842" cy="15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13" kern="0" dirty="0">
                <a:solidFill>
                  <a:srgbClr val="6F6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SAVING FOR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258675" y="4096412"/>
            <a:ext cx="3312584" cy="1048660"/>
          </a:xfrm>
          <a:prstGeom prst="roundRect">
            <a:avLst>
              <a:gd name="adj" fmla="val 14533"/>
            </a:avLst>
          </a:prstGeom>
          <a:solidFill>
            <a:srgbClr val="D8A657">
              <a:alpha val="4000"/>
            </a:srgbClr>
          </a:solidFill>
          <a:ln w="5292">
            <a:solidFill>
              <a:srgbClr val="D8A657">
                <a:alpha val="40000"/>
              </a:srgbClr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3416350" y="4254087"/>
            <a:ext cx="514284" cy="514284"/>
          </a:xfrm>
          <a:prstGeom prst="roundRect">
            <a:avLst>
              <a:gd name="adj" fmla="val 20373"/>
            </a:avLst>
          </a:prstGeom>
          <a:solidFill>
            <a:srgbClr val="ECE4D6">
              <a:alpha val="14000"/>
            </a:srgbClr>
          </a:solidFill>
          <a:ln w="5292">
            <a:solidFill>
              <a:srgbClr val="ECE4D6">
                <a:alpha val="30000"/>
              </a:srgbClr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3582045" y="4414490"/>
            <a:ext cx="259093" cy="1386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6F6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3604865" y="4505937"/>
            <a:ext cx="213370" cy="1386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6F6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pic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4054409" y="4340324"/>
            <a:ext cx="2595091" cy="212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CE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Skateboard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054409" y="4533966"/>
            <a:ext cx="2595091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81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$52 of $80 · $28 to go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416350" y="4892146"/>
            <a:ext cx="2997233" cy="95250"/>
          </a:xfrm>
          <a:prstGeom prst="roundRect">
            <a:avLst>
              <a:gd name="adj" fmla="val 50000"/>
            </a:avLst>
          </a:prstGeom>
          <a:solidFill>
            <a:srgbClr val="ECE4D6">
              <a:alpha val="8000"/>
            </a:srgbClr>
          </a:solidFill>
          <a:ln w="5292">
            <a:solidFill>
              <a:srgbClr val="ECE4D6">
                <a:alpha val="18000"/>
              </a:srgbClr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3421641" y="4897438"/>
            <a:ext cx="1941298" cy="84667"/>
          </a:xfrm>
          <a:prstGeom prst="roundRect">
            <a:avLst>
              <a:gd name="adj" fmla="val 50000"/>
            </a:avLst>
          </a:prstGeom>
          <a:solidFill>
            <a:srgbClr val="D8A657"/>
          </a:solidFill>
          <a:ln/>
        </p:spPr>
      </p:sp>
      <p:sp>
        <p:nvSpPr>
          <p:cNvPr id="26" name="Text 24"/>
          <p:cNvSpPr/>
          <p:nvPr/>
        </p:nvSpPr>
        <p:spPr>
          <a:xfrm>
            <a:off x="3258675" y="5297455"/>
            <a:ext cx="3643842" cy="15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13" kern="0" dirty="0">
                <a:solidFill>
                  <a:srgbClr val="6F6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 I GET PAID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258675" y="5571547"/>
            <a:ext cx="3312584" cy="427467"/>
          </a:xfrm>
          <a:prstGeom prst="roundRect">
            <a:avLst>
              <a:gd name="adj" fmla="val 26739"/>
            </a:avLst>
          </a:prstGeom>
          <a:ln w="5292">
            <a:solidFill>
              <a:srgbClr val="ECE4D6">
                <a:alpha val="22000"/>
              </a:srgbClr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3406841" y="5700614"/>
            <a:ext cx="1551798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CE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70% · Spend 30%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011747" y="5711197"/>
            <a:ext cx="487544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D8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 ›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58675" y="8371499"/>
            <a:ext cx="3312584" cy="397867"/>
          </a:xfrm>
          <a:prstGeom prst="roundRect">
            <a:avLst>
              <a:gd name="adj" fmla="val 28728"/>
            </a:avLst>
          </a:prstGeom>
          <a:ln w="5292">
            <a:solidFill>
              <a:srgbClr val="ECE4D6">
                <a:alpha val="30000"/>
              </a:srgbClr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3328578" y="8491091"/>
            <a:ext cx="3172778" cy="1967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8A8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New goal</a:t>
            </a:r>
            <a:endParaRPr lang="en-US" sz="975" dirty="0"/>
          </a:p>
        </p:txBody>
      </p:sp>
      <p:sp>
        <p:nvSpPr>
          <p:cNvPr id="32" name="Shape 30"/>
          <p:cNvSpPr/>
          <p:nvPr/>
        </p:nvSpPr>
        <p:spPr>
          <a:xfrm>
            <a:off x="3068175" y="8978884"/>
            <a:ext cx="3693584" cy="9525"/>
          </a:xfrm>
          <a:prstGeom prst="rect">
            <a:avLst/>
          </a:prstGeom>
          <a:solidFill>
            <a:srgbClr val="ECE4D6">
              <a:alpha val="16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355495" y="9123330"/>
            <a:ext cx="152383" cy="152383"/>
          </a:xfrm>
          <a:prstGeom prst="roundRect">
            <a:avLst>
              <a:gd name="adj" fmla="val 31253"/>
            </a:avLst>
          </a:prstGeom>
          <a:ln w="10583">
            <a:solidFill>
              <a:srgbClr val="6F675B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3308367" y="9313747"/>
            <a:ext cx="322841" cy="154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6F6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en-US" sz="713" dirty="0"/>
          </a:p>
        </p:txBody>
      </p:sp>
      <p:sp>
        <p:nvSpPr>
          <p:cNvPr id="35" name="Shape 33"/>
          <p:cNvSpPr/>
          <p:nvPr/>
        </p:nvSpPr>
        <p:spPr>
          <a:xfrm>
            <a:off x="4065241" y="9123330"/>
            <a:ext cx="152383" cy="152383"/>
          </a:xfrm>
          <a:prstGeom prst="roundRect">
            <a:avLst>
              <a:gd name="adj" fmla="val 31253"/>
            </a:avLst>
          </a:prstGeom>
          <a:ln w="10583">
            <a:solidFill>
              <a:srgbClr val="6F675B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4035557" y="9313747"/>
            <a:ext cx="288032" cy="154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6F6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</a:t>
            </a:r>
            <a:endParaRPr lang="en-US" sz="713" dirty="0"/>
          </a:p>
        </p:txBody>
      </p:sp>
      <p:sp>
        <p:nvSpPr>
          <p:cNvPr id="37" name="Shape 35"/>
          <p:cNvSpPr/>
          <p:nvPr/>
        </p:nvSpPr>
        <p:spPr>
          <a:xfrm>
            <a:off x="4800947" y="9123330"/>
            <a:ext cx="152383" cy="152383"/>
          </a:xfrm>
          <a:prstGeom prst="roundRect">
            <a:avLst>
              <a:gd name="adj" fmla="val 31253"/>
            </a:avLst>
          </a:prstGeom>
          <a:ln w="10583">
            <a:solidFill>
              <a:srgbClr val="D8A65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27856" y="9313747"/>
            <a:ext cx="374848" cy="154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D8A6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</a:t>
            </a:r>
            <a:endParaRPr lang="en-US" sz="713" dirty="0"/>
          </a:p>
        </p:txBody>
      </p:sp>
      <p:sp>
        <p:nvSpPr>
          <p:cNvPr id="39" name="Shape 37"/>
          <p:cNvSpPr/>
          <p:nvPr/>
        </p:nvSpPr>
        <p:spPr>
          <a:xfrm>
            <a:off x="5587669" y="9123330"/>
            <a:ext cx="152383" cy="152383"/>
          </a:xfrm>
          <a:prstGeom prst="roundRect">
            <a:avLst>
              <a:gd name="adj" fmla="val 31253"/>
            </a:avLst>
          </a:prstGeom>
          <a:ln w="10583">
            <a:solidFill>
              <a:srgbClr val="6F675B"/>
            </a:solidFill>
            <a:prstDash val="dash"/>
          </a:ln>
        </p:spPr>
      </p:sp>
      <p:sp>
        <p:nvSpPr>
          <p:cNvPr id="40" name="Text 38"/>
          <p:cNvSpPr/>
          <p:nvPr/>
        </p:nvSpPr>
        <p:spPr>
          <a:xfrm>
            <a:off x="5507055" y="9313747"/>
            <a:ext cx="389813" cy="154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6F6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</a:t>
            </a:r>
            <a:endParaRPr lang="en-US" sz="713" dirty="0"/>
          </a:p>
        </p:txBody>
      </p:sp>
      <p:sp>
        <p:nvSpPr>
          <p:cNvPr id="41" name="Shape 39"/>
          <p:cNvSpPr/>
          <p:nvPr/>
        </p:nvSpPr>
        <p:spPr>
          <a:xfrm>
            <a:off x="6335035" y="9123330"/>
            <a:ext cx="152383" cy="152383"/>
          </a:xfrm>
          <a:prstGeom prst="roundRect">
            <a:avLst>
              <a:gd name="adj" fmla="val 31253"/>
            </a:avLst>
          </a:prstGeom>
          <a:ln w="10583">
            <a:solidFill>
              <a:srgbClr val="6F675B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6301135" y="9313747"/>
            <a:ext cx="296466" cy="154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6F6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</a:t>
            </a:r>
            <a:endParaRPr lang="en-US" sz="713" dirty="0"/>
          </a:p>
        </p:txBody>
      </p:sp>
      <p:sp>
        <p:nvSpPr>
          <p:cNvPr id="43" name="Text 41"/>
          <p:cNvSpPr/>
          <p:nvPr/>
        </p:nvSpPr>
        <p:spPr>
          <a:xfrm>
            <a:off x="7286626" y="1426683"/>
            <a:ext cx="230559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dirty="0">
                <a:solidFill>
                  <a:srgbClr val="D8A6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 a goal &amp; split</a:t>
            </a:r>
            <a:endParaRPr lang="en-US" sz="2250" dirty="0"/>
          </a:p>
        </p:txBody>
      </p:sp>
      <p:sp>
        <p:nvSpPr>
          <p:cNvPr id="44" name="Shape 42"/>
          <p:cNvSpPr/>
          <p:nvPr/>
        </p:nvSpPr>
        <p:spPr>
          <a:xfrm>
            <a:off x="7286626" y="1845717"/>
            <a:ext cx="3714750" cy="7734267"/>
          </a:xfrm>
          <a:prstGeom prst="roundRect">
            <a:avLst>
              <a:gd name="adj" fmla="val 7692"/>
            </a:avLst>
          </a:prstGeom>
          <a:solidFill>
            <a:srgbClr val="1C1813"/>
          </a:solidFill>
          <a:ln w="10583">
            <a:solidFill>
              <a:srgbClr val="ECE4D6">
                <a:alpha val="28000"/>
              </a:srgbClr>
            </a:solidFill>
            <a:prstDash val="dash"/>
          </a:ln>
          <a:effectLst>
            <a:outerShdw sx="100000" sy="100000" kx="0" ky="0" algn="bl" rotWithShape="0" blurRad="419100" dist="133350" dir="5400000">
              <a:srgbClr val="000000">
                <a:alpha val="5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7525742" y="1949400"/>
            <a:ext cx="327554" cy="1756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F6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9:41</a:t>
            </a:r>
            <a:endParaRPr lang="en-US" sz="825" dirty="0"/>
          </a:p>
        </p:txBody>
      </p:sp>
      <p:sp>
        <p:nvSpPr>
          <p:cNvPr id="46" name="Text 44"/>
          <p:cNvSpPr/>
          <p:nvPr/>
        </p:nvSpPr>
        <p:spPr>
          <a:xfrm>
            <a:off x="10384566" y="1949400"/>
            <a:ext cx="453893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F6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▮▮▮ 5G</a:t>
            </a:r>
            <a:endParaRPr lang="en-US" sz="825" dirty="0"/>
          </a:p>
        </p:txBody>
      </p:sp>
      <p:sp>
        <p:nvSpPr>
          <p:cNvPr id="47" name="Text 45"/>
          <p:cNvSpPr/>
          <p:nvPr/>
        </p:nvSpPr>
        <p:spPr>
          <a:xfrm>
            <a:off x="7487709" y="2392247"/>
            <a:ext cx="167977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A81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✕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674736" y="2389601"/>
            <a:ext cx="830676" cy="244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ECE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goal</a:t>
            </a:r>
            <a:endParaRPr lang="en-US" sz="1425" dirty="0"/>
          </a:p>
        </p:txBody>
      </p:sp>
      <p:sp>
        <p:nvSpPr>
          <p:cNvPr id="49" name="Shape 47"/>
          <p:cNvSpPr/>
          <p:nvPr/>
        </p:nvSpPr>
        <p:spPr>
          <a:xfrm>
            <a:off x="7487709" y="2748360"/>
            <a:ext cx="3312584" cy="1047750"/>
          </a:xfrm>
          <a:prstGeom prst="roundRect">
            <a:avLst>
              <a:gd name="adj" fmla="val 12727"/>
            </a:avLst>
          </a:prstGeom>
          <a:solidFill>
            <a:srgbClr val="ECE4D6">
              <a:alpha val="10000"/>
            </a:srgbClr>
          </a:solidFill>
          <a:ln w="5292">
            <a:solidFill>
              <a:srgbClr val="ECE4D6">
                <a:alpha val="30000"/>
              </a:srgbClr>
            </a:solidFill>
            <a:prstDash val="dash"/>
          </a:ln>
        </p:spPr>
      </p:sp>
      <p:sp>
        <p:nvSpPr>
          <p:cNvPr id="50" name="Text 48"/>
          <p:cNvSpPr/>
          <p:nvPr/>
        </p:nvSpPr>
        <p:spPr>
          <a:xfrm>
            <a:off x="7443312" y="2753651"/>
            <a:ext cx="3401378" cy="1075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6F6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add a picture</a:t>
            </a:r>
            <a:endParaRPr lang="en-US" sz="825" dirty="0"/>
          </a:p>
        </p:txBody>
      </p:sp>
      <p:sp>
        <p:nvSpPr>
          <p:cNvPr id="51" name="Text 49"/>
          <p:cNvSpPr/>
          <p:nvPr/>
        </p:nvSpPr>
        <p:spPr>
          <a:xfrm>
            <a:off x="7487709" y="3948493"/>
            <a:ext cx="3643842" cy="15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13" kern="0" dirty="0">
                <a:solidFill>
                  <a:srgbClr val="6F6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FOR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7487709" y="4127335"/>
            <a:ext cx="3312584" cy="427467"/>
          </a:xfrm>
          <a:prstGeom prst="roundRect">
            <a:avLst>
              <a:gd name="adj" fmla="val 24511"/>
            </a:avLst>
          </a:prstGeom>
          <a:ln w="5292">
            <a:solidFill>
              <a:srgbClr val="ECE4D6">
                <a:alpha val="28000"/>
              </a:srgbClr>
            </a:solidFill>
            <a:prstDash val="dash"/>
          </a:ln>
        </p:spPr>
      </p:sp>
      <p:sp>
        <p:nvSpPr>
          <p:cNvPr id="53" name="Text 51"/>
          <p:cNvSpPr/>
          <p:nvPr/>
        </p:nvSpPr>
        <p:spPr>
          <a:xfrm>
            <a:off x="7616825" y="4256451"/>
            <a:ext cx="3153728" cy="2073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CE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Skateboard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7487709" y="4707186"/>
            <a:ext cx="3643842" cy="15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13" kern="0" dirty="0">
                <a:solidFill>
                  <a:srgbClr val="6F6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7487709" y="4886027"/>
            <a:ext cx="3312584" cy="448634"/>
          </a:xfrm>
          <a:prstGeom prst="roundRect">
            <a:avLst>
              <a:gd name="adj" fmla="val 23354"/>
            </a:avLst>
          </a:prstGeom>
          <a:ln w="5292">
            <a:solidFill>
              <a:srgbClr val="ECE4D6">
                <a:alpha val="28000"/>
              </a:srgbClr>
            </a:solidFill>
            <a:prstDash val="dash"/>
          </a:ln>
        </p:spPr>
      </p:sp>
      <p:sp>
        <p:nvSpPr>
          <p:cNvPr id="56" name="Text 54"/>
          <p:cNvSpPr/>
          <p:nvPr/>
        </p:nvSpPr>
        <p:spPr>
          <a:xfrm>
            <a:off x="7616825" y="5015144"/>
            <a:ext cx="3153728" cy="228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ECE4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$80</a:t>
            </a:r>
            <a:endParaRPr lang="en-US" sz="1125" dirty="0"/>
          </a:p>
        </p:txBody>
      </p:sp>
      <p:sp>
        <p:nvSpPr>
          <p:cNvPr id="57" name="Text 55"/>
          <p:cNvSpPr/>
          <p:nvPr/>
        </p:nvSpPr>
        <p:spPr>
          <a:xfrm>
            <a:off x="7487709" y="5487045"/>
            <a:ext cx="3643842" cy="15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13" kern="0" dirty="0">
                <a:solidFill>
                  <a:srgbClr val="6F6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 I GET PAID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7487709" y="5761137"/>
            <a:ext cx="1063294" cy="343958"/>
          </a:xfrm>
          <a:prstGeom prst="roundRect">
            <a:avLst>
              <a:gd name="adj" fmla="val 27692"/>
            </a:avLst>
          </a:prstGeom>
          <a:ln w="5292">
            <a:solidFill>
              <a:srgbClr val="ECE4D6">
                <a:alpha val="30000"/>
              </a:srgbClr>
            </a:solidFill>
            <a:prstDash val="dash"/>
          </a:ln>
        </p:spPr>
      </p:sp>
      <p:sp>
        <p:nvSpPr>
          <p:cNvPr id="59" name="Text 57"/>
          <p:cNvSpPr/>
          <p:nvPr/>
        </p:nvSpPr>
        <p:spPr>
          <a:xfrm>
            <a:off x="7493000" y="5861678"/>
            <a:ext cx="105271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8A8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it all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8617645" y="5761137"/>
            <a:ext cx="1052711" cy="343958"/>
          </a:xfrm>
          <a:prstGeom prst="roundRect">
            <a:avLst>
              <a:gd name="adj" fmla="val 27692"/>
            </a:avLst>
          </a:prstGeom>
          <a:solidFill>
            <a:srgbClr val="D8A657"/>
          </a:solidFill>
          <a:ln/>
        </p:spPr>
      </p:sp>
      <p:sp>
        <p:nvSpPr>
          <p:cNvPr id="61" name="Text 59"/>
          <p:cNvSpPr/>
          <p:nvPr/>
        </p:nvSpPr>
        <p:spPr>
          <a:xfrm>
            <a:off x="8617645" y="5856387"/>
            <a:ext cx="1052711" cy="191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6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9736998" y="5761137"/>
            <a:ext cx="1063294" cy="343958"/>
          </a:xfrm>
          <a:prstGeom prst="roundRect">
            <a:avLst>
              <a:gd name="adj" fmla="val 27692"/>
            </a:avLst>
          </a:prstGeom>
          <a:ln w="5292">
            <a:solidFill>
              <a:srgbClr val="ECE4D6">
                <a:alpha val="30000"/>
              </a:srgbClr>
            </a:solidFill>
            <a:prstDash val="dash"/>
          </a:ln>
        </p:spPr>
      </p:sp>
      <p:sp>
        <p:nvSpPr>
          <p:cNvPr id="63" name="Text 61"/>
          <p:cNvSpPr/>
          <p:nvPr/>
        </p:nvSpPr>
        <p:spPr>
          <a:xfrm>
            <a:off x="9742290" y="5861678"/>
            <a:ext cx="105271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8A8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it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7487709" y="6257479"/>
            <a:ext cx="3312584" cy="654017"/>
          </a:xfrm>
          <a:prstGeom prst="roundRect">
            <a:avLst>
              <a:gd name="adj" fmla="val 18933"/>
            </a:avLst>
          </a:prstGeom>
          <a:ln w="5292">
            <a:solidFill>
              <a:srgbClr val="ECE4D6">
                <a:alpha val="22000"/>
              </a:srgbClr>
            </a:solidFill>
            <a:prstDash val="dash"/>
          </a:ln>
        </p:spPr>
      </p:sp>
      <p:sp>
        <p:nvSpPr>
          <p:cNvPr id="65" name="Text 63"/>
          <p:cNvSpPr/>
          <p:nvPr/>
        </p:nvSpPr>
        <p:spPr>
          <a:xfrm>
            <a:off x="7635875" y="6405646"/>
            <a:ext cx="624632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D8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 70%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10035150" y="6405646"/>
            <a:ext cx="693175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81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Spend 30%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7635875" y="6668079"/>
            <a:ext cx="3016250" cy="95250"/>
          </a:xfrm>
          <a:prstGeom prst="roundRect">
            <a:avLst>
              <a:gd name="adj" fmla="val 50000"/>
            </a:avLst>
          </a:prstGeom>
          <a:solidFill>
            <a:srgbClr val="ECE4D6">
              <a:alpha val="8000"/>
            </a:srgbClr>
          </a:solidFill>
          <a:ln w="5292">
            <a:solidFill>
              <a:srgbClr val="ECE4D6">
                <a:alpha val="18000"/>
              </a:srgbClr>
            </a:solidFill>
            <a:prstDash val="dash"/>
          </a:ln>
        </p:spPr>
      </p:sp>
      <p:sp>
        <p:nvSpPr>
          <p:cNvPr id="68" name="Shape 66"/>
          <p:cNvSpPr/>
          <p:nvPr/>
        </p:nvSpPr>
        <p:spPr>
          <a:xfrm>
            <a:off x="7641167" y="6673371"/>
            <a:ext cx="2103934" cy="84667"/>
          </a:xfrm>
          <a:prstGeom prst="roundRect">
            <a:avLst>
              <a:gd name="adj" fmla="val 50000"/>
            </a:avLst>
          </a:prstGeom>
          <a:solidFill>
            <a:srgbClr val="D8A657"/>
          </a:solidFill>
          <a:ln/>
        </p:spPr>
      </p:sp>
      <p:sp>
        <p:nvSpPr>
          <p:cNvPr id="69" name="Shape 67"/>
          <p:cNvSpPr/>
          <p:nvPr/>
        </p:nvSpPr>
        <p:spPr>
          <a:xfrm>
            <a:off x="9640342" y="6610946"/>
            <a:ext cx="209517" cy="209517"/>
          </a:xfrm>
          <a:prstGeom prst="ellipse">
            <a:avLst/>
          </a:prstGeom>
          <a:solidFill>
            <a:srgbClr val="1C1813"/>
          </a:solidFill>
          <a:ln w="15875">
            <a:solidFill>
              <a:srgbClr val="D8A657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487709" y="8929275"/>
            <a:ext cx="3312584" cy="430609"/>
          </a:xfrm>
          <a:prstGeom prst="roundRect">
            <a:avLst>
              <a:gd name="adj" fmla="val 26544"/>
            </a:avLst>
          </a:prstGeom>
          <a:solidFill>
            <a:srgbClr val="D8A657"/>
          </a:solidFill>
          <a:ln/>
        </p:spPr>
      </p:sp>
      <p:sp>
        <p:nvSpPr>
          <p:cNvPr id="71" name="Text 69"/>
          <p:cNvSpPr/>
          <p:nvPr/>
        </p:nvSpPr>
        <p:spPr>
          <a:xfrm>
            <a:off x="7571370" y="9062625"/>
            <a:ext cx="3145261" cy="202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1A16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goal</a:t>
            </a:r>
            <a:endParaRPr lang="en-US" sz="1125" dirty="0"/>
          </a:p>
        </p:txBody>
      </p:sp>
      <p:sp>
        <p:nvSpPr>
          <p:cNvPr id="72" name="Text 70"/>
          <p:cNvSpPr/>
          <p:nvPr/>
        </p:nvSpPr>
        <p:spPr>
          <a:xfrm>
            <a:off x="11515660" y="1426683"/>
            <a:ext cx="211587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dirty="0">
                <a:solidFill>
                  <a:srgbClr val="D8A6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Payout · parent</a:t>
            </a:r>
            <a:endParaRPr lang="en-US" sz="2250" dirty="0"/>
          </a:p>
        </p:txBody>
      </p:sp>
      <p:sp>
        <p:nvSpPr>
          <p:cNvPr id="73" name="Shape 71"/>
          <p:cNvSpPr/>
          <p:nvPr/>
        </p:nvSpPr>
        <p:spPr>
          <a:xfrm>
            <a:off x="11515660" y="1845717"/>
            <a:ext cx="3714750" cy="7734267"/>
          </a:xfrm>
          <a:prstGeom prst="roundRect">
            <a:avLst>
              <a:gd name="adj" fmla="val 7692"/>
            </a:avLst>
          </a:prstGeom>
          <a:solidFill>
            <a:srgbClr val="1C1813"/>
          </a:solidFill>
          <a:ln w="10583">
            <a:solidFill>
              <a:srgbClr val="ECE4D6">
                <a:alpha val="28000"/>
              </a:srgbClr>
            </a:solidFill>
            <a:prstDash val="dash"/>
          </a:ln>
          <a:effectLst>
            <a:outerShdw sx="100000" sy="100000" kx="0" ky="0" algn="bl" rotWithShape="0" blurRad="419100" dist="133350" dir="5400000">
              <a:srgbClr val="000000">
                <a:alpha val="50000"/>
              </a:srgbClr>
            </a:outerShdw>
          </a:effectLst>
        </p:spPr>
      </p:sp>
      <p:sp>
        <p:nvSpPr>
          <p:cNvPr id="74" name="Text 72"/>
          <p:cNvSpPr/>
          <p:nvPr/>
        </p:nvSpPr>
        <p:spPr>
          <a:xfrm>
            <a:off x="11754777" y="1949400"/>
            <a:ext cx="327554" cy="1756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F6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9:41</a:t>
            </a:r>
            <a:endParaRPr lang="en-US" sz="825" dirty="0"/>
          </a:p>
        </p:txBody>
      </p:sp>
      <p:sp>
        <p:nvSpPr>
          <p:cNvPr id="75" name="Text 73"/>
          <p:cNvSpPr/>
          <p:nvPr/>
        </p:nvSpPr>
        <p:spPr>
          <a:xfrm>
            <a:off x="14613600" y="1949400"/>
            <a:ext cx="453893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F6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▮▮▮ 5G</a:t>
            </a:r>
            <a:endParaRPr lang="en-US" sz="825" dirty="0"/>
          </a:p>
        </p:txBody>
      </p:sp>
      <p:sp>
        <p:nvSpPr>
          <p:cNvPr id="76" name="Text 74"/>
          <p:cNvSpPr/>
          <p:nvPr/>
        </p:nvSpPr>
        <p:spPr>
          <a:xfrm>
            <a:off x="11716743" y="2389601"/>
            <a:ext cx="3643842" cy="15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50" kern="0" dirty="0">
                <a:solidFill>
                  <a:srgbClr val="D8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PAYOUT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11716743" y="2539835"/>
            <a:ext cx="3643842" cy="2656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ECE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Maya</a:t>
            </a:r>
            <a:endParaRPr lang="en-US" sz="1575" dirty="0"/>
          </a:p>
        </p:txBody>
      </p:sp>
      <p:sp>
        <p:nvSpPr>
          <p:cNvPr id="78" name="Text 76"/>
          <p:cNvSpPr/>
          <p:nvPr/>
        </p:nvSpPr>
        <p:spPr>
          <a:xfrm>
            <a:off x="11716743" y="2795902"/>
            <a:ext cx="364384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8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this week's close-out.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11716743" y="3081652"/>
            <a:ext cx="899220" cy="4267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600" b="1" dirty="0">
                <a:solidFill>
                  <a:srgbClr val="7FAA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$46</a:t>
            </a:r>
            <a:endParaRPr lang="en-US" sz="3600" dirty="0"/>
          </a:p>
        </p:txBody>
      </p:sp>
      <p:sp>
        <p:nvSpPr>
          <p:cNvPr id="80" name="Text 78"/>
          <p:cNvSpPr/>
          <p:nvPr/>
        </p:nvSpPr>
        <p:spPr>
          <a:xfrm>
            <a:off x="12654029" y="3275542"/>
            <a:ext cx="704585" cy="175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F6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 pay out</a:t>
            </a:r>
            <a:endParaRPr lang="en-US" sz="825" dirty="0"/>
          </a:p>
        </p:txBody>
      </p:sp>
      <p:sp>
        <p:nvSpPr>
          <p:cNvPr id="81" name="Text 79"/>
          <p:cNvSpPr/>
          <p:nvPr/>
        </p:nvSpPr>
        <p:spPr>
          <a:xfrm>
            <a:off x="11716743" y="3613134"/>
            <a:ext cx="3643842" cy="15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13" kern="0" dirty="0">
                <a:solidFill>
                  <a:srgbClr val="6F6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MAYA'S PLAN · 70 / 30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11716743" y="3877717"/>
            <a:ext cx="3312584" cy="133284"/>
          </a:xfrm>
          <a:prstGeom prst="roundRect">
            <a:avLst>
              <a:gd name="adj" fmla="val 50000"/>
            </a:avLst>
          </a:prstGeom>
          <a:ln w="5292">
            <a:solidFill>
              <a:srgbClr val="ECE4D6">
                <a:alpha val="18000"/>
              </a:srgbClr>
            </a:solidFill>
            <a:prstDash val="dash"/>
          </a:ln>
        </p:spPr>
      </p:sp>
      <p:sp>
        <p:nvSpPr>
          <p:cNvPr id="83" name="Shape 81"/>
          <p:cNvSpPr/>
          <p:nvPr/>
        </p:nvSpPr>
        <p:spPr>
          <a:xfrm>
            <a:off x="11722035" y="3883009"/>
            <a:ext cx="2311384" cy="122701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84" name="Shape 82"/>
          <p:cNvSpPr/>
          <p:nvPr/>
        </p:nvSpPr>
        <p:spPr>
          <a:xfrm>
            <a:off x="14033418" y="3883009"/>
            <a:ext cx="990534" cy="122701"/>
          </a:xfrm>
          <a:prstGeom prst="rect">
            <a:avLst/>
          </a:prstGeom>
          <a:solidFill>
            <a:srgbClr val="ECE4D6">
              <a:alpha val="18000"/>
            </a:srgbClr>
          </a:solidFill>
          <a:ln/>
        </p:spPr>
      </p:sp>
      <p:sp>
        <p:nvSpPr>
          <p:cNvPr id="85" name="Shape 83"/>
          <p:cNvSpPr/>
          <p:nvPr/>
        </p:nvSpPr>
        <p:spPr>
          <a:xfrm>
            <a:off x="11716743" y="4153876"/>
            <a:ext cx="3312584" cy="448634"/>
          </a:xfrm>
          <a:prstGeom prst="roundRect">
            <a:avLst>
              <a:gd name="adj" fmla="val 25477"/>
            </a:avLst>
          </a:prstGeom>
          <a:solidFill>
            <a:srgbClr val="D8A657">
              <a:alpha val="4000"/>
            </a:srgbClr>
          </a:solidFill>
          <a:ln w="5292">
            <a:solidFill>
              <a:srgbClr val="D8A657">
                <a:alpha val="40000"/>
              </a:srgbClr>
            </a:solidFill>
            <a:prstDash val="dash"/>
          </a:ln>
        </p:spPr>
      </p:sp>
      <p:sp>
        <p:nvSpPr>
          <p:cNvPr id="86" name="Text 84"/>
          <p:cNvSpPr/>
          <p:nvPr/>
        </p:nvSpPr>
        <p:spPr>
          <a:xfrm>
            <a:off x="11855318" y="4293526"/>
            <a:ext cx="1342066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CE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Skateboard goal</a:t>
            </a:r>
            <a:endParaRPr lang="en-US" sz="1050" dirty="0"/>
          </a:p>
        </p:txBody>
      </p:sp>
      <p:sp>
        <p:nvSpPr>
          <p:cNvPr id="87" name="Text 85"/>
          <p:cNvSpPr/>
          <p:nvPr/>
        </p:nvSpPr>
        <p:spPr>
          <a:xfrm>
            <a:off x="14633527" y="4282943"/>
            <a:ext cx="3334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D8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$32</a:t>
            </a:r>
            <a:endParaRPr lang="en-US" sz="1125" dirty="0"/>
          </a:p>
        </p:txBody>
      </p:sp>
      <p:sp>
        <p:nvSpPr>
          <p:cNvPr id="88" name="Shape 86"/>
          <p:cNvSpPr/>
          <p:nvPr/>
        </p:nvSpPr>
        <p:spPr>
          <a:xfrm>
            <a:off x="11716743" y="4688169"/>
            <a:ext cx="3312584" cy="448634"/>
          </a:xfrm>
          <a:prstGeom prst="roundRect">
            <a:avLst>
              <a:gd name="adj" fmla="val 25477"/>
            </a:avLst>
          </a:prstGeom>
          <a:ln w="5292">
            <a:solidFill>
              <a:srgbClr val="ECE4D6">
                <a:alpha val="22000"/>
              </a:srgbClr>
            </a:solidFill>
            <a:prstDash val="dash"/>
          </a:ln>
        </p:spPr>
      </p:sp>
      <p:sp>
        <p:nvSpPr>
          <p:cNvPr id="89" name="Text 87"/>
          <p:cNvSpPr/>
          <p:nvPr/>
        </p:nvSpPr>
        <p:spPr>
          <a:xfrm>
            <a:off x="11855318" y="4827819"/>
            <a:ext cx="1380902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CE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Spending money</a:t>
            </a:r>
            <a:endParaRPr lang="en-US" sz="1050" dirty="0"/>
          </a:p>
        </p:txBody>
      </p:sp>
      <p:sp>
        <p:nvSpPr>
          <p:cNvPr id="90" name="Text 88"/>
          <p:cNvSpPr/>
          <p:nvPr/>
        </p:nvSpPr>
        <p:spPr>
          <a:xfrm>
            <a:off x="14633527" y="4817236"/>
            <a:ext cx="3334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ECE4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$14</a:t>
            </a:r>
            <a:endParaRPr lang="en-US" sz="1125" dirty="0"/>
          </a:p>
        </p:txBody>
      </p:sp>
      <p:sp>
        <p:nvSpPr>
          <p:cNvPr id="91" name="Shape 89"/>
          <p:cNvSpPr/>
          <p:nvPr/>
        </p:nvSpPr>
        <p:spPr>
          <a:xfrm>
            <a:off x="11716743" y="5279678"/>
            <a:ext cx="3312584" cy="9525"/>
          </a:xfrm>
          <a:prstGeom prst="rect">
            <a:avLst/>
          </a:prstGeom>
          <a:solidFill>
            <a:srgbClr val="ECE4D6">
              <a:alpha val="16000"/>
            </a:srgbClr>
          </a:solidFill>
          <a:ln/>
        </p:spPr>
      </p:sp>
      <p:sp>
        <p:nvSpPr>
          <p:cNvPr id="92" name="Text 90"/>
          <p:cNvSpPr/>
          <p:nvPr/>
        </p:nvSpPr>
        <p:spPr>
          <a:xfrm>
            <a:off x="11716743" y="5389744"/>
            <a:ext cx="3411961" cy="344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D8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★ $32 takes Skateboard to $84 / $80 — goal reached.</a:t>
            </a:r>
            <a:endParaRPr lang="en-US" sz="863" dirty="0"/>
          </a:p>
        </p:txBody>
      </p:sp>
      <p:sp>
        <p:nvSpPr>
          <p:cNvPr id="93" name="Shape 91"/>
          <p:cNvSpPr/>
          <p:nvPr/>
        </p:nvSpPr>
        <p:spPr>
          <a:xfrm>
            <a:off x="11716743" y="8232511"/>
            <a:ext cx="3312584" cy="378850"/>
          </a:xfrm>
          <a:prstGeom prst="roundRect">
            <a:avLst>
              <a:gd name="adj" fmla="val 30170"/>
            </a:avLst>
          </a:prstGeom>
          <a:ln w="5292">
            <a:solidFill>
              <a:srgbClr val="ECE4D6">
                <a:alpha val="40000"/>
              </a:srgbClr>
            </a:solidFill>
            <a:prstDash val="dash"/>
          </a:ln>
        </p:spPr>
      </p:sp>
      <p:sp>
        <p:nvSpPr>
          <p:cNvPr id="94" name="Text 92"/>
          <p:cNvSpPr/>
          <p:nvPr/>
        </p:nvSpPr>
        <p:spPr>
          <a:xfrm>
            <a:off x="11777121" y="8342578"/>
            <a:ext cx="3191828" cy="196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8A81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Adjust split</a:t>
            </a:r>
            <a:endParaRPr lang="en-US" sz="975" dirty="0"/>
          </a:p>
        </p:txBody>
      </p:sp>
      <p:sp>
        <p:nvSpPr>
          <p:cNvPr id="95" name="Shape 93"/>
          <p:cNvSpPr/>
          <p:nvPr/>
        </p:nvSpPr>
        <p:spPr>
          <a:xfrm>
            <a:off x="11716743" y="8697020"/>
            <a:ext cx="3312584" cy="430609"/>
          </a:xfrm>
          <a:prstGeom prst="roundRect">
            <a:avLst>
              <a:gd name="adj" fmla="val 26544"/>
            </a:avLst>
          </a:prstGeom>
          <a:solidFill>
            <a:srgbClr val="D8A657"/>
          </a:solidFill>
          <a:ln/>
        </p:spPr>
      </p:sp>
      <p:sp>
        <p:nvSpPr>
          <p:cNvPr id="96" name="Text 94"/>
          <p:cNvSpPr/>
          <p:nvPr/>
        </p:nvSpPr>
        <p:spPr>
          <a:xfrm>
            <a:off x="11800404" y="8830370"/>
            <a:ext cx="3145261" cy="202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1A16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$46 as paid</a:t>
            </a:r>
            <a:endParaRPr lang="en-US" sz="1125" dirty="0"/>
          </a:p>
        </p:txBody>
      </p:sp>
      <p:sp>
        <p:nvSpPr>
          <p:cNvPr id="97" name="Text 95"/>
          <p:cNvSpPr/>
          <p:nvPr/>
        </p:nvSpPr>
        <p:spPr>
          <a:xfrm>
            <a:off x="11551114" y="9213288"/>
            <a:ext cx="3643842" cy="184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6F67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Theo ended −$6 — nothing to pay, rolled to $34.</a:t>
            </a: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2026-06-24T21:22:41Z</dcterms:created>
  <dcterms:modified xsi:type="dcterms:W3CDTF">2026-06-24T21:22:41Z</dcterms:modified>
</cp:coreProperties>
</file>